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file:///C:\repos\Skills-Orchestrator\dist\project-video\skills-orchestrator-1-1-0.html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6583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8DE1D1"/>
                </a:solidFill>
                <a:latin typeface="Aptos"/>
              </a:rPr>
              <a:t>PROJECT ORCHESTRATOR  /  DEVELOPER PREVIEW  /  V1.1.1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 Display"/>
              </a:rPr>
              <a:t>Give every repository
a way of working.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87168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DEE5E3"/>
                </a:solidFill>
                <a:latin typeface="Aptos"/>
              </a:rPr>
              <a:t>Governed agent workflows for every repository.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712463"/>
            <a:ext cx="3438144" cy="1600200"/>
          </a:xfrm>
          <a:prstGeom prst="roundRect">
            <a:avLst>
              <a:gd name="adj" fmla="val 6000"/>
            </a:avLst>
          </a:prstGeom>
          <a:solidFill>
            <a:srgbClr val="00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391363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427939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 Display"/>
              </a:rPr>
              <a:t>ESTABLISH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727448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Instructions, standards, profiles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712463"/>
            <a:ext cx="3438144" cy="1600200"/>
          </a:xfrm>
          <a:prstGeom prst="roundRect">
            <a:avLst>
              <a:gd name="adj" fmla="val 6000"/>
            </a:avLst>
          </a:prstGeom>
          <a:solidFill>
            <a:srgbClr val="2F6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391363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27939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 Display"/>
              </a:rPr>
              <a:t>ORCHESTRATE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727448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Route intent to bounded skills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3712463"/>
            <a:ext cx="3438144" cy="1600200"/>
          </a:xfrm>
          <a:prstGeom prst="roundRect">
            <a:avLst>
              <a:gd name="adj" fmla="val 6000"/>
            </a:avLst>
          </a:prstGeom>
          <a:solidFill>
            <a:srgbClr val="F0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7032" y="391363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427939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 Display"/>
              </a:rPr>
              <a:t>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4727448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Validate and retain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78815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B5BEBC"/>
                </a:solidFill>
                <a:latin typeface="Cascadia Mono"/>
              </a:rPr>
              <a:t>44 verified skills  /  registry-free runtime  /  schema-validated evidence  /  Node.js 22, 24, 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3796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8A1A0"/>
                </a:solidFill>
                <a:latin typeface="Aptos"/>
              </a:rPr>
              <a:t>PROJECT 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82528" y="6537960"/>
            <a:ext cx="4114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800" b="1">
                <a:solidFill>
                  <a:srgbClr val="98A1A0"/>
                </a:solidFill>
                <a:latin typeface="Aptos"/>
              </a:rPr>
              <a:t>01</a:t>
            </a:r>
            <a:endParaRPr sz="800" b="1">
              <a:solidFill>
                <a:srgbClr val="98A1A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6583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766C"/>
                </a:solidFill>
                <a:latin typeface="Aptos"/>
              </a:rPr>
              <a:t>WHY IT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181D22"/>
                </a:solidFill>
                <a:latin typeface="Aptos Display"/>
              </a:rPr>
              <a:t>Agents move fast. Projects need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35024"/>
            <a:ext cx="104698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677074"/>
                </a:solidFill>
                <a:latin typeface="Aptos"/>
              </a:rPr>
              <a:t>The missing layer is not another chatbot. It is a repository-owned operating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93392"/>
            <a:ext cx="3703320" cy="3858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26771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06A4A"/>
                </a:solidFill>
                <a:latin typeface="Aptos"/>
              </a:rPr>
              <a:t>WITHOUT A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825496"/>
            <a:ext cx="109728" cy="109728"/>
          </a:xfrm>
          <a:prstGeom prst="roundRect">
            <a:avLst>
              <a:gd name="adj" fmla="val 6000"/>
            </a:avLst>
          </a:prstGeom>
          <a:solidFill>
            <a:srgbClr val="F0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75234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81D22"/>
                </a:solidFill>
                <a:latin typeface="Aptos"/>
              </a:rPr>
              <a:t>Scope is guessed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3429000"/>
            <a:ext cx="109728" cy="109728"/>
          </a:xfrm>
          <a:prstGeom prst="roundRect">
            <a:avLst>
              <a:gd name="adj" fmla="val 6000"/>
            </a:avLst>
          </a:prstGeom>
          <a:solidFill>
            <a:srgbClr val="F0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335584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81D22"/>
                </a:solidFill>
                <a:latin typeface="Aptos"/>
              </a:rPr>
              <a:t>Review quality varies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4032504"/>
            <a:ext cx="109728" cy="109728"/>
          </a:xfrm>
          <a:prstGeom prst="roundRect">
            <a:avLst>
              <a:gd name="adj" fmla="val 6000"/>
            </a:avLst>
          </a:prstGeom>
          <a:solidFill>
            <a:srgbClr val="F0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39593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81D22"/>
                </a:solidFill>
                <a:latin typeface="Aptos"/>
              </a:rPr>
              <a:t>Approvals are implicit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636008"/>
            <a:ext cx="109728" cy="109728"/>
          </a:xfrm>
          <a:prstGeom prst="roundRect">
            <a:avLst>
              <a:gd name="adj" fmla="val 6000"/>
            </a:avLst>
          </a:prstGeom>
          <a:solidFill>
            <a:srgbClr val="F0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56285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81D22"/>
                </a:solidFill>
                <a:latin typeface="Aptos"/>
              </a:rPr>
              <a:t>Evidence disappears in chat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590288" y="3511296"/>
            <a:ext cx="713232" cy="393192"/>
          </a:xfrm>
          <a:prstGeom prst="rightArrow">
            <a:avLst/>
          </a:prstGeom>
          <a:solidFill>
            <a:srgbClr val="00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504688" y="1993392"/>
            <a:ext cx="6016752" cy="3858768"/>
          </a:xfrm>
          <a:prstGeom prst="roundRect">
            <a:avLst>
              <a:gd name="adj" fmla="val 6000"/>
            </a:avLst>
          </a:prstGeom>
          <a:solidFill>
            <a:srgbClr val="18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15584" y="226771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8DE1D1"/>
                </a:solidFill>
                <a:latin typeface="Aptos"/>
              </a:rPr>
              <a:t>WITH PROJECT ORCHESTRATOR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5584" y="274320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8DE1D1"/>
                </a:solidFill>
                <a:latin typeface="Aptos"/>
              </a:rPr>
              <a:t>BOUNDARIES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2724912"/>
            <a:ext cx="382219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Each workflow owns a defined action and scope.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5584" y="340156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8DE1D1"/>
                </a:solidFill>
                <a:latin typeface="Aptos"/>
              </a:rPr>
              <a:t>GATES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3383280"/>
            <a:ext cx="382219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Clarification, approval, and risk are explicit.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5584" y="4059936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8DE1D1"/>
                </a:solidFill>
                <a:latin typeface="Aptos"/>
              </a:rPr>
              <a:t>COMPOSITION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4041648"/>
            <a:ext cx="382219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Dependencies run in a verified order.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5584" y="4718304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8DE1D1"/>
                </a:solidFill>
                <a:latin typeface="Aptos"/>
              </a:rPr>
              <a:t>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4700016"/>
            <a:ext cx="382219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Reports preserve evidence beyond the conversation.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3796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677074"/>
                </a:solidFill>
                <a:latin typeface="Aptos"/>
              </a:rPr>
              <a:t>PROJECT ORCHESTRATOR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82528" y="6537960"/>
            <a:ext cx="4114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800" b="1">
                <a:solidFill>
                  <a:srgbClr val="677074"/>
                </a:solidFill>
                <a:latin typeface="Aptos"/>
              </a:rPr>
              <a:t>02</a:t>
            </a:r>
            <a:endParaRPr sz="800" b="1">
              <a:solidFill>
                <a:srgbClr val="67707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6583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766C"/>
                </a:solidFill>
                <a:latin typeface="Aptos"/>
              </a:rPr>
              <a:t>PROJECT-CREATED VIDEO</a:t>
            </a:r>
            <a:endParaRPr sz="1000" b="1">
              <a:solidFill>
                <a:srgbClr val="00766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3100" b="1">
                <a:solidFill>
                  <a:srgbClr val="181D22"/>
                </a:solidFill>
                <a:latin typeface="Aptos Display"/>
              </a:rPr>
              <a:t>Watch the project explain itself.</a:t>
            </a:r>
            <a:endParaRPr sz="3100" b="1">
              <a:solidFill>
                <a:srgbClr val="181D22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335024"/>
            <a:ext cx="10469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400" b="0">
                <a:solidFill>
                  <a:srgbClr val="677074"/>
                </a:solidFill>
                <a:latin typeface="Aptos"/>
              </a:rPr>
              <a:t>An evidence-grounded walkthrough generated by Project Orchestrator from its own repository.</a:t>
            </a:r>
            <a:endParaRPr sz="1400" b="0">
              <a:solidFill>
                <a:srgbClr val="677074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0400" y="2133600"/>
            <a:ext cx="10858500" cy="3708400"/>
          </a:xfrm>
          <a:prstGeom prst="roundRect">
            <a:avLst>
              <a:gd name="adj" fmla="val 6000"/>
            </a:avLst>
          </a:prstGeom>
          <a:solidFill>
            <a:srgbClr val="18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653796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677074"/>
                </a:solidFill>
                <a:latin typeface="Aptos"/>
              </a:rPr>
              <a:t>PROJECT ORCHESTRATOR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82528" y="6537960"/>
            <a:ext cx="4114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800" b="1">
                <a:solidFill>
                  <a:srgbClr val="677074"/>
                </a:solidFill>
                <a:latin typeface="Aptos"/>
              </a:rPr>
              <a:t>03</a:t>
            </a:r>
            <a:endParaRPr sz="800" b="1">
              <a:solidFill>
                <a:srgbClr val="677074"/>
              </a:solidFill>
              <a:latin typeface="Apto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594DFD2-5477-7BF5-CE9F-1F7A71CC8103}"/>
              </a:ext>
            </a:extLst>
          </p:cNvPr>
          <p:cNvSpPr/>
          <p:nvPr/>
        </p:nvSpPr>
        <p:spPr>
          <a:xfrm>
            <a:off x="1041400" y="2590800"/>
            <a:ext cx="101600" cy="2260600"/>
          </a:xfrm>
          <a:prstGeom prst="roundRect">
            <a:avLst/>
          </a:prstGeom>
          <a:gradFill flip="none" rotWithShape="1">
            <a:gsLst>
              <a:gs pos="0">
                <a:srgbClr val="FF81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860CFD-7470-4E6F-6FEF-BAF297C60F10}"/>
              </a:ext>
            </a:extLst>
          </p:cNvPr>
          <p:cNvSpPr txBox="1"/>
          <p:nvPr/>
        </p:nvSpPr>
        <p:spPr>
          <a:xfrm>
            <a:off x="1447800" y="2590800"/>
            <a:ext cx="863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8138"/>
                </a:solidFill>
                <a:latin typeface="Aptos Display" panose="020B0004020202020204" pitchFamily="34" charset="0"/>
              </a:rPr>
              <a:t>BUILT FROM VERIFIED PROJECT EVIDENCE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8B9C0E-C365-A758-8D3D-85C6B39C2AA4}"/>
              </a:ext>
            </a:extLst>
          </p:cNvPr>
          <p:cNvSpPr txBox="1"/>
          <p:nvPr/>
        </p:nvSpPr>
        <p:spPr>
          <a:xfrm>
            <a:off x="1447800" y="3073400"/>
            <a:ext cx="8763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 Display" panose="020B0004020202020204" pitchFamily="34" charset="0"/>
              </a:rPr>
              <a:t>See the workflow, controls, and proof in motion.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80C97B-1B41-BD94-DC60-726D4460A46C}"/>
              </a:ext>
            </a:extLst>
          </p:cNvPr>
          <p:cNvSpPr txBox="1"/>
          <p:nvPr/>
        </p:nvSpPr>
        <p:spPr>
          <a:xfrm>
            <a:off x="1447800" y="3848100"/>
            <a:ext cx="825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D6DBE1"/>
                </a:solidFill>
                <a:latin typeface="Aptos" panose="020B0004020202020204" pitchFamily="34" charset="0"/>
              </a:rPr>
              <a:t>Self-contained HTML | Local playback | Generated by this project</a:t>
            </a:r>
          </a:p>
        </p:txBody>
      </p:sp>
      <p:sp>
        <p:nvSpPr>
          <p:cNvPr id="32" name="Rectangle: Rounded Corners 31">
            <a:hlinkClick r:id="rId2" action="ppaction://hlinkfile"/>
            <a:extLst>
              <a:ext uri="{FF2B5EF4-FFF2-40B4-BE49-F238E27FC236}">
                <a16:creationId xmlns:a16="http://schemas.microsoft.com/office/drawing/2014/main" id="{319A9943-4E0C-0621-2025-C7383792C942}"/>
              </a:ext>
            </a:extLst>
          </p:cNvPr>
          <p:cNvSpPr/>
          <p:nvPr/>
        </p:nvSpPr>
        <p:spPr>
          <a:xfrm>
            <a:off x="1447800" y="4635500"/>
            <a:ext cx="5461000" cy="685800"/>
          </a:xfrm>
          <a:prstGeom prst="roundRect">
            <a:avLst/>
          </a:prstGeom>
          <a:gradFill flip="none" rotWithShape="1">
            <a:gsLst>
              <a:gs pos="0">
                <a:srgbClr val="FF81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 Display" panose="020B0004020202020204" pitchFamily="34" charset="0"/>
              </a:rPr>
              <a:t>Watch: Built by Project Orchestrator</a:t>
            </a:r>
          </a:p>
        </p:txBody>
      </p:sp>
    </p:spTree>
    <p:extLst>
      <p:ext uri="{BB962C8B-B14F-4D97-AF65-F5344CB8AC3E}">
        <p14:creationId xmlns:p14="http://schemas.microsoft.com/office/powerpoint/2010/main" val="4147864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6583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766C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181D22"/>
                </a:solidFill>
                <a:latin typeface="Aptos Display"/>
              </a:rPr>
              <a:t>A control plane that lives with the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35024"/>
            <a:ext cx="104698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677074"/>
                </a:solidFill>
                <a:latin typeface="Aptos"/>
              </a:rPr>
              <a:t>No separate portal to maintain. The project carries its instructions, workflows, gates, and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93392"/>
            <a:ext cx="9966960" cy="621792"/>
          </a:xfrm>
          <a:prstGeom prst="roundRect">
            <a:avLst>
              <a:gd name="adj" fmla="val 6000"/>
            </a:avLst>
          </a:prstGeom>
          <a:solidFill>
            <a:srgbClr val="E7A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157984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81D22"/>
                </a:solidFill>
                <a:latin typeface="Aptos"/>
              </a:rPr>
              <a:t>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213055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81D22"/>
                </a:solidFill>
                <a:latin typeface="Aptos"/>
              </a:rPr>
              <a:t>Natural language or slash 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2248" y="2148840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81D22"/>
                </a:solidFill>
                <a:latin typeface="Cascadia Mono"/>
              </a:rPr>
              <a:t>prompt / chat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724912"/>
            <a:ext cx="9619488" cy="621792"/>
          </a:xfrm>
          <a:prstGeom prst="roundRect">
            <a:avLst>
              <a:gd name="adj" fmla="val 6000"/>
            </a:avLst>
          </a:prstGeom>
          <a:solidFill>
            <a:srgbClr val="00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2889504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2862072"/>
            <a:ext cx="7790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Match the request to an owning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2248" y="2880360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scadia Mono"/>
              </a:rPr>
              <a:t>skill descriptions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53312" y="3456432"/>
            <a:ext cx="9272016" cy="621792"/>
          </a:xfrm>
          <a:prstGeom prst="roundRect">
            <a:avLst>
              <a:gd name="adj" fmla="val 6000"/>
            </a:avLst>
          </a:prstGeom>
          <a:solidFill>
            <a:srgbClr val="2F6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81912" y="3621024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593592"/>
            <a:ext cx="74432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Execute bounded skills and dependencies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2248" y="3611880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scadia Mono"/>
              </a:rPr>
              <a:t>dependency graph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00784" y="4187952"/>
            <a:ext cx="8924544" cy="621792"/>
          </a:xfrm>
          <a:prstGeom prst="roundRect">
            <a:avLst>
              <a:gd name="adj" fmla="val 6000"/>
            </a:avLst>
          </a:prstGeom>
          <a:solidFill>
            <a:srgbClr val="F0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29384" y="4352544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325112"/>
            <a:ext cx="7095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Pause for clarification, approval, or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2248" y="4343400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scadia Mono"/>
              </a:rPr>
              <a:t>instructions + 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48256" y="4919472"/>
            <a:ext cx="8577072" cy="621792"/>
          </a:xfrm>
          <a:prstGeom prst="roundRect">
            <a:avLst>
              <a:gd name="adj" fmla="val 6000"/>
            </a:avLst>
          </a:prstGeom>
          <a:solidFill>
            <a:srgbClr val="18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76856" y="5084064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5056632"/>
            <a:ext cx="6748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Write validated reports and handoff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248" y="5074920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scadia Mono"/>
              </a:rPr>
              <a:t>reports + schemas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3796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677074"/>
                </a:solidFill>
                <a:latin typeface="Aptos"/>
              </a:rPr>
              <a:t>PROJECT ORCHESTRATOR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537960"/>
            <a:ext cx="4114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800" b="1">
                <a:solidFill>
                  <a:srgbClr val="677074"/>
                </a:solidFill>
                <a:latin typeface="Aptos"/>
              </a:rPr>
              <a:t>04</a:t>
            </a:r>
            <a:endParaRPr sz="800" b="1">
              <a:solidFill>
                <a:srgbClr val="67707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6583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766C"/>
                </a:solidFill>
                <a:latin typeface="Aptos"/>
              </a:rPr>
              <a:t>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181D22"/>
                </a:solidFill>
                <a:latin typeface="Aptos Display"/>
              </a:rPr>
              <a:t>Three entry points. One governed 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35024"/>
            <a:ext cx="104698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677074"/>
                </a:solidFill>
                <a:latin typeface="Aptos"/>
              </a:rPr>
              <a:t>Create, adopt, or clone into isolated staging; every path verifies before handoff.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3456432" cy="3127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2148840"/>
            <a:ext cx="3456432" cy="82296"/>
          </a:xfrm>
          <a:prstGeom prst="rect">
            <a:avLst/>
          </a:prstGeom>
          <a:solidFill>
            <a:srgbClr val="00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766C"/>
                </a:solidFill>
                <a:latin typeface="Aptos"/>
              </a:rPr>
              <a:t>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81D22"/>
                </a:solidFill>
                <a:latin typeface="Cascadia Mono"/>
              </a:rPr>
              <a:t>create-project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21024"/>
            <a:ext cx="28163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677074"/>
                </a:solidFill>
                <a:latin typeface="Aptos"/>
              </a:rPr>
              <a:t>Scaffold a governed workspace for a selected stack.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27448"/>
            <a:ext cx="28163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0766C"/>
                </a:solidFill>
                <a:latin typeface="Aptos"/>
              </a:rPr>
              <a:t>TRANSACTIONAL  /  RERUNNABLE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2148840"/>
            <a:ext cx="3456432" cy="3127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52544" y="2148840"/>
            <a:ext cx="3456432" cy="82296"/>
          </a:xfrm>
          <a:prstGeom prst="rect">
            <a:avLst/>
          </a:prstGeom>
          <a:solidFill>
            <a:srgbClr val="2F6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24871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F62D0"/>
                </a:solidFill>
                <a:latin typeface="Aptos"/>
              </a:rPr>
              <a:t>EXISTING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944368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81D22"/>
                </a:solidFill>
                <a:latin typeface="Cascadia Mono"/>
              </a:rPr>
              <a:t>adopt --dry-run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621024"/>
            <a:ext cx="28163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677074"/>
                </a:solidFill>
                <a:latin typeface="Aptos"/>
              </a:rPr>
              <a:t>Detect what exists and preview only what is missing.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4727448"/>
            <a:ext cx="28163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F62D0"/>
                </a:solidFill>
                <a:latin typeface="Aptos"/>
              </a:rPr>
              <a:t>TRANSACTIONAL  /  RERUNNABLE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48840"/>
            <a:ext cx="3456432" cy="3127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148840"/>
            <a:ext cx="3456432" cy="82296"/>
          </a:xfrm>
          <a:prstGeom prst="rect">
            <a:avLst/>
          </a:prstGeom>
          <a:solidFill>
            <a:srgbClr val="F0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24871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06A4A"/>
                </a:solidFill>
                <a:latin typeface="Aptos"/>
              </a:rPr>
              <a:t>REMOTE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944368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81D22"/>
                </a:solidFill>
                <a:latin typeface="Cascadia Mono"/>
              </a:rPr>
              <a:t>clone-setup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621024"/>
            <a:ext cx="28163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677074"/>
                </a:solidFill>
                <a:latin typeface="Aptos"/>
              </a:rPr>
              <a:t>Stage, provision, verify, then publish to the destination.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4727448"/>
            <a:ext cx="28163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06A4A"/>
                </a:solidFill>
                <a:latin typeface="Aptos"/>
              </a:rPr>
              <a:t>TRANSACTIONAL  /  RERUNNABLE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32120"/>
            <a:ext cx="10863072" cy="621792"/>
          </a:xfrm>
          <a:prstGeom prst="roundRect">
            <a:avLst>
              <a:gd name="adj" fmla="val 6000"/>
            </a:avLst>
          </a:prstGeom>
          <a:solidFill>
            <a:srgbClr val="18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5705856"/>
            <a:ext cx="10332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8DE1D1"/>
                </a:solidFill>
                <a:latin typeface="Cascadia Mono"/>
              </a:rPr>
              <a:t>VERIFY SOURCE  -&gt;  RESOLVE PROFILE  -&gt;  APPLY TRANSACTION  -&gt;  VALIDATE INSTALLATION  -&gt;  HAND 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3796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677074"/>
                </a:solidFill>
                <a:latin typeface="Aptos"/>
              </a:rPr>
              <a:t>PROJECT ORCHESTRATOR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537960"/>
            <a:ext cx="4114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800" b="1">
                <a:solidFill>
                  <a:srgbClr val="677074"/>
                </a:solidFill>
                <a:latin typeface="Aptos"/>
              </a:rPr>
              <a:t>05</a:t>
            </a:r>
            <a:endParaRPr sz="800" b="1">
              <a:solidFill>
                <a:srgbClr val="67707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6583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8DE1D1"/>
                </a:solidFill>
                <a:latin typeface="Aptos"/>
              </a:rPr>
              <a:t>ROUTING AND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ptos Display"/>
              </a:rPr>
              <a:t>Ask for the outcome. The graph does the rest.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35024"/>
            <a:ext cx="104698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DEE5E3"/>
                </a:solidFill>
                <a:latin typeface="Aptos"/>
              </a:rPr>
              <a:t>Descriptions route intent; declared dependencies produce prerequisites before downstream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8424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7AD32"/>
                </a:solidFill>
                <a:latin typeface="Aptos"/>
              </a:rPr>
              <a:t>YOUR 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31720"/>
            <a:ext cx="3017520" cy="1225296"/>
          </a:xfrm>
          <a:prstGeom prst="roundRect">
            <a:avLst>
              <a:gd name="adj" fmla="val 6000"/>
            </a:avLst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587752"/>
            <a:ext cx="25146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81D22"/>
                </a:solidFill>
                <a:latin typeface="Aptos"/>
              </a:rPr>
              <a:t>“Audit this repo and give me a remediation plan.”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58768" y="2779776"/>
            <a:ext cx="566928" cy="329184"/>
          </a:xfrm>
          <a:prstGeom prst="rightArrow">
            <a:avLst/>
          </a:prstGeom>
          <a:solidFill>
            <a:srgbClr val="8DE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17720" y="2258568"/>
            <a:ext cx="1508760" cy="1389888"/>
          </a:xfrm>
          <a:prstGeom prst="roundRect">
            <a:avLst>
              <a:gd name="adj" fmla="val 6000"/>
            </a:avLst>
          </a:prstGeom>
          <a:solidFill>
            <a:srgbClr val="E7A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27448" y="2496312"/>
            <a:ext cx="1289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scadia Mono"/>
              </a:rPr>
              <a:t>CLARIFY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944368"/>
            <a:ext cx="12893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Aptos"/>
              </a:rPr>
              <a:t>scope + plan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163056" y="2770632"/>
            <a:ext cx="256032" cy="256032"/>
          </a:xfrm>
          <a:prstGeom prst="rightArrow">
            <a:avLst/>
          </a:prstGeom>
          <a:solidFill>
            <a:srgbClr val="DE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91656" y="2258568"/>
            <a:ext cx="1508760" cy="1389888"/>
          </a:xfrm>
          <a:prstGeom prst="roundRect">
            <a:avLst>
              <a:gd name="adj" fmla="val 6000"/>
            </a:avLst>
          </a:prstGeom>
          <a:solidFill>
            <a:srgbClr val="00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1384" y="2496312"/>
            <a:ext cx="1289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scadia Mono"/>
              </a:rPr>
              <a:t>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944368"/>
            <a:ext cx="12893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Aptos"/>
              </a:rPr>
              <a:t>findings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36992" y="2770632"/>
            <a:ext cx="256032" cy="256032"/>
          </a:xfrm>
          <a:prstGeom prst="rightArrow">
            <a:avLst/>
          </a:prstGeom>
          <a:solidFill>
            <a:srgbClr val="DE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65592" y="2258568"/>
            <a:ext cx="1508760" cy="1389888"/>
          </a:xfrm>
          <a:prstGeom prst="roundRect">
            <a:avLst>
              <a:gd name="adj" fmla="val 6000"/>
            </a:avLst>
          </a:prstGeom>
          <a:solidFill>
            <a:srgbClr val="2F6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2496312"/>
            <a:ext cx="1289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scadia Mono"/>
              </a:rP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944368"/>
            <a:ext cx="12893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Aptos"/>
              </a:rPr>
              <a:t>validated issues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710928" y="2770632"/>
            <a:ext cx="256032" cy="256032"/>
          </a:xfrm>
          <a:prstGeom prst="rightArrow">
            <a:avLst/>
          </a:prstGeom>
          <a:solidFill>
            <a:srgbClr val="DE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939528" y="2258568"/>
            <a:ext cx="1508760" cy="1389888"/>
          </a:xfrm>
          <a:prstGeom prst="roundRect">
            <a:avLst>
              <a:gd name="adj" fmla="val 6000"/>
            </a:avLst>
          </a:prstGeom>
          <a:solidFill>
            <a:srgbClr val="F0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49256" y="2496312"/>
            <a:ext cx="1289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scadia Mono"/>
              </a:rPr>
              <a:t>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9256" y="2944368"/>
            <a:ext cx="12893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Aptos"/>
              </a:rPr>
              <a:t>sequenced 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297680"/>
            <a:ext cx="10863072" cy="1298448"/>
          </a:xfrm>
          <a:prstGeom prst="roundRect">
            <a:avLst>
              <a:gd name="adj" fmla="val 6000"/>
            </a:avLst>
          </a:prstGeom>
          <a:solidFill>
            <a:srgbClr val="252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55371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8DE1D1"/>
                </a:solidFill>
                <a:latin typeface="Aptos"/>
              </a:rPr>
              <a:t>ACYCLIC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1947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No circular dependency chains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455371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8DE1D1"/>
                </a:solidFill>
                <a:latin typeface="Aptos"/>
              </a:rPr>
              <a:t>DEPENDENCY-CLOSED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91947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Profiles include every prerequisite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2" y="455371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8DE1D1"/>
                </a:solidFill>
                <a:latin typeface="Aptos"/>
              </a:rPr>
              <a:t>FAIL-CLOSED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872" y="491947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Blocked work cannot report success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3796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8A1A0"/>
                </a:solidFill>
                <a:latin typeface="Aptos"/>
              </a:rPr>
              <a:t>PROJECT ORCHESTRATOR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82528" y="6537960"/>
            <a:ext cx="4114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800" b="1">
                <a:solidFill>
                  <a:srgbClr val="98A1A0"/>
                </a:solidFill>
                <a:latin typeface="Aptos"/>
              </a:rPr>
              <a:t>06</a:t>
            </a:r>
            <a:endParaRPr sz="800" b="1">
              <a:solidFill>
                <a:srgbClr val="98A1A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6583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766C"/>
                </a:solidFill>
                <a:latin typeface="Aptos"/>
              </a:rPr>
              <a:t>AGENT BUILDER  /  LOCAL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181D22"/>
                </a:solidFill>
                <a:latin typeface="Aptos Display"/>
              </a:rPr>
              <a:t>Two ways to build. One governed install.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35024"/>
            <a:ext cx="104698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677074"/>
                </a:solidFill>
                <a:latin typeface="Aptos"/>
              </a:rPr>
              <a:t>Guided requirements or bounded research produce the same reviewable, least-privilege agent.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57400"/>
            <a:ext cx="5330952" cy="2148840"/>
          </a:xfrm>
          <a:prstGeom prst="roundRect">
            <a:avLst>
              <a:gd name="adj" fmla="val 6000"/>
            </a:avLst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2057400"/>
            <a:ext cx="5330952" cy="82296"/>
          </a:xfrm>
          <a:prstGeom prst="rect">
            <a:avLst/>
          </a:prstGeom>
          <a:solidFill>
            <a:srgbClr val="00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359152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766C"/>
                </a:solidFill>
                <a:latin typeface="Aptos"/>
              </a:rPr>
              <a:t>GUIDED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61488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81D22"/>
                </a:solidFill>
                <a:latin typeface="Aptos Display"/>
              </a:rPr>
              <a:t>Supplied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255264"/>
            <a:ext cx="46177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77074"/>
                </a:solidFill>
                <a:latin typeface="Aptos"/>
              </a:rPr>
              <a:t>Define the role, scope, tools, and approval policy from known project needs.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2057400"/>
            <a:ext cx="5330952" cy="2148840"/>
          </a:xfrm>
          <a:prstGeom prst="roundRect">
            <a:avLst>
              <a:gd name="adj" fmla="val 6000"/>
            </a:avLst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2057400"/>
            <a:ext cx="5330952" cy="82296"/>
          </a:xfrm>
          <a:prstGeom prst="rect">
            <a:avLst/>
          </a:prstGeom>
          <a:solidFill>
            <a:srgbClr val="2F6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2359152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F62D0"/>
                </a:solidFill>
                <a:latin typeface="Aptos"/>
              </a:rPr>
              <a:t>AUTONOMOUS-RESEARCH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761488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81D22"/>
                </a:solidFill>
                <a:latin typeface="Aptos Display"/>
              </a:rPr>
              <a:t>Bounded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255264"/>
            <a:ext cx="46177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77074"/>
                </a:solidFill>
                <a:latin typeface="Aptos"/>
              </a:rPr>
              <a:t>Gather current facts first, then propose a blueprint without expanding permissions.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98848"/>
            <a:ext cx="2578608" cy="987552"/>
          </a:xfrm>
          <a:prstGeom prst="roundRect">
            <a:avLst>
              <a:gd name="adj" fmla="val 6000"/>
            </a:avLst>
          </a:prstGeom>
          <a:solidFill>
            <a:srgbClr val="E7A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468172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4645152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 Display"/>
              </a:rPr>
              <a:t>DEFINE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02920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scadia Mono"/>
              </a:rPr>
              <a:t>role + scope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9856" y="4498848"/>
            <a:ext cx="2578608" cy="987552"/>
          </a:xfrm>
          <a:prstGeom prst="roundRect">
            <a:avLst>
              <a:gd name="adj" fmla="val 6000"/>
            </a:avLst>
          </a:prstGeom>
          <a:solidFill>
            <a:srgbClr val="00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02736" y="468172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4645152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 Display"/>
              </a:rPr>
              <a:t>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736" y="502920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scadia Mono"/>
              </a:rPr>
              <a:t>requirements /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4498848"/>
            <a:ext cx="2578608" cy="987552"/>
          </a:xfrm>
          <a:prstGeom prst="roundRect">
            <a:avLst>
              <a:gd name="adj" fmla="val 6000"/>
            </a:avLst>
          </a:prstGeom>
          <a:solidFill>
            <a:srgbClr val="2F6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64224" y="468172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4645152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 Display"/>
              </a:rPr>
              <a:t>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502920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scadia Mono"/>
              </a:rPr>
              <a:t>least privilege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42832" y="4498848"/>
            <a:ext cx="2578608" cy="987552"/>
          </a:xfrm>
          <a:prstGeom prst="roundRect">
            <a:avLst>
              <a:gd name="adj" fmla="val 6000"/>
            </a:avLst>
          </a:prstGeom>
          <a:solidFill>
            <a:srgbClr val="F0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25712" y="468172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4645152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 Display"/>
              </a:rPr>
              <a:t>INSTALL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502920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scadia Mono"/>
              </a:rPr>
              <a:t>transactional apply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687568"/>
            <a:ext cx="10863072" cy="530352"/>
          </a:xfrm>
          <a:prstGeom prst="roundRect">
            <a:avLst>
              <a:gd name="adj" fmla="val 6000"/>
            </a:avLst>
          </a:prstGeom>
          <a:solidFill>
            <a:srgbClr val="18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6112" y="5833872"/>
            <a:ext cx="10378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DE1D1"/>
                </a:solidFill>
                <a:latin typeface="Cascadia Mono"/>
              </a:rPr>
              <a:t>BLUEPRINT 2.2  /  PLAN 1.1  /  CLI + RUNTIME + SCHEMAS + TESTS PROPAGATE TO NEW PROJECTS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53796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677074"/>
                </a:solidFill>
                <a:latin typeface="Aptos"/>
              </a:rPr>
              <a:t>PROJECT ORCHESTRATOR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82528" y="6537960"/>
            <a:ext cx="4114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800" b="1">
                <a:solidFill>
                  <a:srgbClr val="677074"/>
                </a:solidFill>
                <a:latin typeface="Aptos"/>
              </a:rPr>
              <a:t>07</a:t>
            </a:r>
            <a:endParaRPr sz="800" b="1">
              <a:solidFill>
                <a:srgbClr val="67707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6583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8DE1D1"/>
                </a:solidFill>
                <a:latin typeface="Aptos"/>
              </a:rPr>
              <a:t>PUBLICATION INTENT  /  GOVERNED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ptos Display"/>
              </a:rPr>
              <a:t>Plan the destination. Never silently publish.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35024"/>
            <a:ext cx="104698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DEE5E3"/>
                </a:solidFill>
                <a:latin typeface="Aptos"/>
              </a:rPr>
              <a:t>Publication intent stays in the reviewed plan; platform workflows own external mutation after approval.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3246120" cy="2907792"/>
          </a:xfrm>
          <a:prstGeom prst="roundRect">
            <a:avLst>
              <a:gd name="adj" fmla="val 6000"/>
            </a:avLst>
          </a:prstGeom>
          <a:solidFill>
            <a:srgbClr val="252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2148840"/>
            <a:ext cx="3246120" cy="82296"/>
          </a:xfrm>
          <a:prstGeom prst="rect">
            <a:avLst/>
          </a:prstGeom>
          <a:solidFill>
            <a:srgbClr val="00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2487168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0766C"/>
                </a:solidFill>
                <a:latin typeface="Aptos"/>
              </a:rPr>
              <a:t>MICROSOFT FOUNDRY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907792"/>
            <a:ext cx="2697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 Display"/>
              </a:rPr>
              <a:t>Managed 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493008"/>
            <a:ext cx="269748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DEE5E3"/>
                </a:solidFill>
                <a:latin typeface="Aptos"/>
              </a:rPr>
              <a:t>The endpoint is managed with the Foundry agent through its owning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4626864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0766C"/>
                </a:solidFill>
                <a:latin typeface="Aptos"/>
              </a:rPr>
              <a:t>HAND OFF AFTER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33087" y="2148840"/>
            <a:ext cx="3246120" cy="2907792"/>
          </a:xfrm>
          <a:prstGeom prst="roundRect">
            <a:avLst>
              <a:gd name="adj" fmla="val 6000"/>
            </a:avLst>
          </a:prstGeom>
          <a:solidFill>
            <a:srgbClr val="252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33087" y="2148840"/>
            <a:ext cx="3246120" cy="82296"/>
          </a:xfrm>
          <a:prstGeom prst="rect">
            <a:avLst/>
          </a:prstGeom>
          <a:solidFill>
            <a:srgbClr val="E7A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9975" y="2487168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E7AD32"/>
                </a:solidFill>
                <a:latin typeface="Aptos"/>
              </a:rPr>
              <a:t>MICROSOFT 365 +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5" y="2907792"/>
            <a:ext cx="2697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 Display"/>
              </a:rPr>
              <a:t>Direct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5" y="3493008"/>
            <a:ext cx="269748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DEE5E3"/>
                </a:solidFill>
                <a:latin typeface="Aptos"/>
              </a:rPr>
              <a:t>Activity Protocol and Bot Service prerequisites remain separate platform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5" y="4626864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E7AD32"/>
                </a:solidFill>
                <a:latin typeface="Aptos"/>
              </a:rPr>
              <a:t>HAND OFF AFTER APPROVAL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07808" y="2148840"/>
            <a:ext cx="3246120" cy="2907792"/>
          </a:xfrm>
          <a:prstGeom prst="roundRect">
            <a:avLst>
              <a:gd name="adj" fmla="val 6000"/>
            </a:avLst>
          </a:prstGeom>
          <a:solidFill>
            <a:srgbClr val="252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07808" y="2148840"/>
            <a:ext cx="3246120" cy="82296"/>
          </a:xfrm>
          <a:prstGeom prst="rect">
            <a:avLst/>
          </a:prstGeom>
          <a:solidFill>
            <a:srgbClr val="F0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54696" y="2487168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06A4A"/>
                </a:solidFill>
                <a:latin typeface="Aptos"/>
              </a:rPr>
              <a:t>CHATGPT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4696" y="2907792"/>
            <a:ext cx="2697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 Display"/>
              </a:rPr>
              <a:t>Indirect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3493008"/>
            <a:ext cx="269748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DEE5E3"/>
                </a:solidFill>
                <a:latin typeface="Aptos"/>
              </a:rPr>
              <a:t>A separately governed Custom GPT calls an HTTPS/OpenAPI 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4696" y="4626864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06A4A"/>
                </a:solidFill>
                <a:latin typeface="Aptos"/>
              </a:rPr>
              <a:t>HAND OFF AFTER APPROVAL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321808"/>
            <a:ext cx="10863072" cy="731520"/>
          </a:xfrm>
          <a:prstGeom prst="roundRect">
            <a:avLst>
              <a:gd name="adj" fmla="val 6000"/>
            </a:avLst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504688"/>
            <a:ext cx="10332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81D22"/>
                </a:solidFill>
                <a:latin typeface="Cascadia Mono"/>
              </a:rPr>
              <a:t>AGENT BUILDER RECORDS INTENT + READINESS  /  CREATES NO EXTERNAL RESOURCE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3796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8A1A0"/>
                </a:solidFill>
                <a:latin typeface="Aptos"/>
              </a:rPr>
              <a:t>PROJECT ORCHESTRATOR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537960"/>
            <a:ext cx="4114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800" b="1">
                <a:solidFill>
                  <a:srgbClr val="98A1A0"/>
                </a:solidFill>
                <a:latin typeface="Aptos"/>
              </a:rPr>
              <a:t>08</a:t>
            </a:r>
            <a:endParaRPr sz="800" b="1">
              <a:solidFill>
                <a:srgbClr val="98A1A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6583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766C"/>
                </a:solidFill>
                <a:latin typeface="Aptos"/>
              </a:rPr>
              <a:t>AUTONOMY WITH CONSENT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181D22"/>
                </a:solidFill>
                <a:latin typeface="Aptos Display"/>
              </a:rPr>
              <a:t>Six gates remain mandatory.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35024"/>
            <a:ext cx="104698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677074"/>
                </a:solidFill>
                <a:latin typeface="Aptos"/>
              </a:rPr>
              <a:t>Neither autonomy mode nor publication intent can bypass consequential-action approval.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66543"/>
            <a:ext cx="345643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2066543"/>
            <a:ext cx="73152" cy="1188720"/>
          </a:xfrm>
          <a:prstGeom prst="rect">
            <a:avLst/>
          </a:prstGeom>
          <a:solidFill>
            <a:srgbClr val="00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2258567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0766C"/>
                </a:solidFill>
                <a:latin typeface="Cascadia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2221991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81D22"/>
                </a:solidFill>
                <a:latin typeface="Aptos Display"/>
              </a:rPr>
              <a:t>PURCHASES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633471"/>
            <a:ext cx="24871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77074"/>
                </a:solidFill>
                <a:latin typeface="Aptos"/>
              </a:rPr>
              <a:t>Commit funds or place an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066543"/>
            <a:ext cx="345643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52544" y="2066543"/>
            <a:ext cx="73152" cy="1188720"/>
          </a:xfrm>
          <a:prstGeom prst="rect">
            <a:avLst/>
          </a:prstGeom>
          <a:solidFill>
            <a:srgbClr val="2F6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258567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F62D0"/>
                </a:solidFill>
                <a:latin typeface="Cascadia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2221991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81D22"/>
                </a:solidFill>
                <a:latin typeface="Aptos Display"/>
              </a:rPr>
              <a:t>BOOKINGS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2633471"/>
            <a:ext cx="24871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77074"/>
                </a:solidFill>
                <a:latin typeface="Aptos"/>
              </a:rPr>
              <a:t>Reserve travel, time, or capacity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66543"/>
            <a:ext cx="345643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066543"/>
            <a:ext cx="73152" cy="1188720"/>
          </a:xfrm>
          <a:prstGeom prst="rect">
            <a:avLst/>
          </a:prstGeom>
          <a:solidFill>
            <a:srgbClr val="F0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6" y="2258567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06A4A"/>
                </a:solidFill>
                <a:latin typeface="Cascadia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2221991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81D22"/>
                </a:solidFill>
                <a:latin typeface="Aptos Display"/>
              </a:rPr>
              <a:t>MESSAGES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2633471"/>
            <a:ext cx="24871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77074"/>
                </a:solidFill>
                <a:latin typeface="Aptos"/>
              </a:rPr>
              <a:t>Send external communications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511296"/>
            <a:ext cx="345643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511296"/>
            <a:ext cx="73152" cy="1188720"/>
          </a:xfrm>
          <a:prstGeom prst="rect">
            <a:avLst/>
          </a:prstGeom>
          <a:solidFill>
            <a:srgbClr val="E7A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370332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E7AD32"/>
                </a:solidFill>
                <a:latin typeface="Cascadia Mon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3666744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81D22"/>
                </a:solidFill>
                <a:latin typeface="Aptos Display"/>
              </a:rPr>
              <a:t>ACCOUNT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" y="4078224"/>
            <a:ext cx="24871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77074"/>
                </a:solidFill>
                <a:latin typeface="Aptos"/>
              </a:rPr>
              <a:t>Change identity or access controls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2544" y="3511296"/>
            <a:ext cx="345643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52544" y="3511296"/>
            <a:ext cx="73152" cy="1188720"/>
          </a:xfrm>
          <a:prstGeom prst="rect">
            <a:avLst/>
          </a:prstGeom>
          <a:solidFill>
            <a:srgbClr val="00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370332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0766C"/>
                </a:solidFill>
                <a:latin typeface="Cascadia Mon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912" y="3666744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81D22"/>
                </a:solidFill>
                <a:latin typeface="Aptos Display"/>
              </a:rPr>
              <a:t>SENSITIVE DISCLOSURE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0912" y="4078224"/>
            <a:ext cx="24871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77074"/>
                </a:solidFill>
                <a:latin typeface="Aptos"/>
              </a:rPr>
              <a:t>Expose protected information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511296"/>
            <a:ext cx="345643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46720" y="3511296"/>
            <a:ext cx="73152" cy="1188720"/>
          </a:xfrm>
          <a:prstGeom prst="rect">
            <a:avLst/>
          </a:prstGeom>
          <a:solidFill>
            <a:srgbClr val="2F6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66176" y="370332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F62D0"/>
                </a:solidFill>
                <a:latin typeface="Cascadia Mono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5088" y="3666744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81D22"/>
                </a:solidFill>
                <a:latin typeface="Aptos Display"/>
              </a:rPr>
              <a:t>DESTRUCTIVE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05088" y="4078224"/>
            <a:ext cx="24871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77074"/>
                </a:solidFill>
                <a:latin typeface="Aptos"/>
              </a:rPr>
              <a:t>Delete, revoke, or overwrite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102352"/>
            <a:ext cx="10863072" cy="530352"/>
          </a:xfrm>
          <a:prstGeom prst="roundRect">
            <a:avLst>
              <a:gd name="adj" fmla="val 6000"/>
            </a:avLst>
          </a:prstGeom>
          <a:solidFill>
            <a:srgbClr val="18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6112" y="5248656"/>
            <a:ext cx="10378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8DE1D1"/>
                </a:solidFill>
                <a:latin typeface="Cascadia Mono"/>
              </a:rPr>
              <a:t>PUBLICATION METADATA STAYS OUT OF RENDERED AGENT INSTRUCTIONS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806440"/>
            <a:ext cx="108630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677074"/>
                </a:solidFill>
                <a:latin typeface="Aptos"/>
              </a:rPr>
              <a:t>Azure Government readiness fails closed when service, channel, authorization, or data-boundary evidence is unknown.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3796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677074"/>
                </a:solidFill>
                <a:latin typeface="Aptos"/>
              </a:rPr>
              <a:t>PROJECT ORCHESTRATOR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82528" y="6537960"/>
            <a:ext cx="4114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800" b="1">
                <a:solidFill>
                  <a:srgbClr val="677074"/>
                </a:solidFill>
                <a:latin typeface="Aptos"/>
              </a:rPr>
              <a:t>09</a:t>
            </a:r>
            <a:endParaRPr sz="800" b="1">
              <a:solidFill>
                <a:srgbClr val="67707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6583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766C"/>
                </a:solidFill>
                <a:latin typeface="Aptos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181D22"/>
                </a:solidFill>
                <a:latin typeface="Aptos Display"/>
              </a:rPr>
              <a:t>From empty folder to working project in just a few prompts.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35024"/>
            <a:ext cx="104698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677074"/>
                </a:solidFill>
                <a:latin typeface="Aptos"/>
              </a:rPr>
              <a:t>The demo compresses the interaction; real work retains clarification and approval gates.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29968"/>
            <a:ext cx="4892040" cy="3346704"/>
          </a:xfrm>
          <a:prstGeom prst="roundRect">
            <a:avLst>
              <a:gd name="adj" fmla="val 6000"/>
            </a:avLst>
          </a:prstGeom>
          <a:solidFill>
            <a:srgbClr val="18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304288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8DE1D1"/>
                </a:solidFill>
                <a:latin typeface="Aptos"/>
              </a:rPr>
              <a:t>PROMPT 01  /  ESTABLISH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43200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scadia Mono"/>
              </a:rPr>
              <a:t>/demo-create-project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383280"/>
            <a:ext cx="416052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DEE5E3"/>
                </a:solidFill>
                <a:latin typeface="Aptos"/>
              </a:rPr>
              <a:t>Create a TypeScript project with the durable profile, tests, and Azure scaffold; verify it, then open its workspace.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81888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7AD32"/>
                </a:solidFill>
                <a:latin typeface="Aptos"/>
              </a:rPr>
              <a:t>OUTPUT  -&gt;  GOVERNED WORKSPACE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15000" y="3337560"/>
            <a:ext cx="676656" cy="411480"/>
          </a:xfrm>
          <a:prstGeom prst="rightArrow">
            <a:avLst/>
          </a:prstGeom>
          <a:solidFill>
            <a:srgbClr val="00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92824" y="2029968"/>
            <a:ext cx="4928616" cy="3346704"/>
          </a:xfrm>
          <a:prstGeom prst="roundRect">
            <a:avLst>
              <a:gd name="adj" fmla="val 6000"/>
            </a:avLst>
          </a:prstGeom>
          <a:solidFill>
            <a:srgbClr val="F4F1E8"/>
          </a:solidFill>
          <a:ln w="25400">
            <a:solidFill>
              <a:srgbClr val="007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76288" y="2304288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766C"/>
                </a:solidFill>
                <a:latin typeface="Aptos"/>
              </a:rPr>
              <a:t>PROMPT 02  / 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6288" y="2743200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81D22"/>
                </a:solidFill>
                <a:latin typeface="Cascadia Mono"/>
              </a:rPr>
              <a:t>/demo-web-app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3383280"/>
            <a:ext cx="416052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677074"/>
                </a:solidFill>
                <a:latin typeface="Aptos"/>
              </a:rPr>
              <a:t>Build and test the app inside that baseline; stop at the Azure deployment approval gate before any cloud mutation.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481888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06A4A"/>
                </a:solidFill>
                <a:latin typeface="Aptos"/>
              </a:rPr>
              <a:t>OUTPUT  -&gt;  WORKING, EVIDENCED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779008"/>
            <a:ext cx="108630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81D22"/>
                </a:solidFill>
                <a:latin typeface="Aptos"/>
              </a:rPr>
              <a:t>The product starts the project. GitHub Copilot and the team build the application inside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53796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677074"/>
                </a:solidFill>
                <a:latin typeface="Aptos"/>
              </a:rPr>
              <a:t>PROJECT ORCHESTRATOR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82528" y="6537960"/>
            <a:ext cx="4114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800" b="1">
                <a:solidFill>
                  <a:srgbClr val="677074"/>
                </a:solidFill>
                <a:latin typeface="Aptos"/>
              </a:rPr>
              <a:t>10</a:t>
            </a:r>
            <a:endParaRPr sz="800" b="1">
              <a:solidFill>
                <a:srgbClr val="67707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6583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8DE1D1"/>
                </a:solidFill>
                <a:latin typeface="Aptos"/>
              </a:rPr>
              <a:t>CURRENT EVIDENCE  /  V1.1.1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ptos Display"/>
              </a:rPr>
              <a:t>What lands. What passed. What remains.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35024"/>
            <a:ext cx="104698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DEE5E3"/>
                </a:solidFill>
                <a:latin typeface="Aptos"/>
              </a:rPr>
              <a:t>The framework distinguishes validated capability from production-release readiness.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3236976" cy="3429000"/>
          </a:xfrm>
          <a:prstGeom prst="roundRect">
            <a:avLst>
              <a:gd name="adj" fmla="val 6000"/>
            </a:avLst>
          </a:prstGeom>
          <a:solidFill>
            <a:srgbClr val="252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2148840"/>
            <a:ext cx="3236976" cy="82296"/>
          </a:xfrm>
          <a:prstGeom prst="rect">
            <a:avLst/>
          </a:prstGeom>
          <a:solidFill>
            <a:srgbClr val="00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766C"/>
                </a:solidFill>
                <a:latin typeface="Aptos"/>
              </a:rPr>
              <a:t>LANDS IN THE REPO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" y="305409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00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2999232"/>
            <a:ext cx="23957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.github/ instructions + skills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" y="364845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00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3593592"/>
            <a:ext cx="23957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.vscode/ build + debug setup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" y="424281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00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4187952"/>
            <a:ext cx="23957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reports/ authoritative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" y="483717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007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4782312"/>
            <a:ext cx="23957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schemas/ machine-readable contracts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42232" y="2148840"/>
            <a:ext cx="3236976" cy="3429000"/>
          </a:xfrm>
          <a:prstGeom prst="roundRect">
            <a:avLst>
              <a:gd name="adj" fmla="val 6000"/>
            </a:avLst>
          </a:prstGeom>
          <a:solidFill>
            <a:srgbClr val="252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42232" y="2148840"/>
            <a:ext cx="3236976" cy="82296"/>
          </a:xfrm>
          <a:prstGeom prst="rect">
            <a:avLst/>
          </a:prstGeom>
          <a:solidFill>
            <a:srgbClr val="2F6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79976" y="248716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F62D0"/>
                </a:solidFill>
                <a:latin typeface="Aptos"/>
              </a:rPr>
              <a:t>VALIDATED LOCALLY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05409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2F6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54296" y="2999232"/>
            <a:ext cx="23957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44 framework skills verified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64845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2F6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54296" y="3593592"/>
            <a:ext cx="23957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124 tests passed, 0 failed, 1 skipped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24281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2F6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54296" y="4187952"/>
            <a:ext cx="23957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207 files security-scanned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83717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2F6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54296" y="4782312"/>
            <a:ext cx="23957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158 release files checksum-verified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6096" y="2148840"/>
            <a:ext cx="3236976" cy="3429000"/>
          </a:xfrm>
          <a:prstGeom prst="roundRect">
            <a:avLst>
              <a:gd name="adj" fmla="val 6000"/>
            </a:avLst>
          </a:prstGeom>
          <a:solidFill>
            <a:srgbClr val="252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26096" y="2148840"/>
            <a:ext cx="3236976" cy="82296"/>
          </a:xfrm>
          <a:prstGeom prst="rect">
            <a:avLst/>
          </a:prstGeom>
          <a:solidFill>
            <a:srgbClr val="F0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0" y="248716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06A4A"/>
                </a:solidFill>
                <a:latin typeface="Aptos"/>
              </a:rPr>
              <a:t>RELEASE BLOCKERS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72984" y="305409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F0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38160" y="2999232"/>
            <a:ext cx="23957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P4 release assurance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72984" y="364845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F0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0" y="3593592"/>
            <a:ext cx="23957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Trusted release signature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72984" y="424281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F0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38160" y="4187952"/>
            <a:ext cx="23957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Independent review evidence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2984" y="483717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F0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38160" y="4782312"/>
            <a:ext cx="23957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Artifact health + revocation 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870448"/>
            <a:ext cx="1086307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8DE1D1"/>
                </a:solidFill>
                <a:latin typeface="Cascadia Mono"/>
              </a:rPr>
              <a:t>Repository-owned  /  transactional adoption  /  explicit approvals  /  evidence before assertion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53796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8A1A0"/>
                </a:solidFill>
                <a:latin typeface="Aptos"/>
              </a:rPr>
              <a:t>PROJECT ORCHESTRATOR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82528" y="6537960"/>
            <a:ext cx="4114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800" b="1">
                <a:solidFill>
                  <a:srgbClr val="98A1A0"/>
                </a:solidFill>
                <a:latin typeface="Aptos"/>
              </a:rPr>
              <a:t>11</a:t>
            </a:r>
            <a:endParaRPr sz="800" b="1">
              <a:solidFill>
                <a:srgbClr val="98A1A0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954</Words>
  <Application>Microsoft Office PowerPoint</Application>
  <PresentationFormat>Widescreen</PresentationFormat>
  <Paragraphs>204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Anthony Marsiglia</cp:lastModifiedBy>
  <cp:revision>2</cp:revision>
  <dcterms:created xsi:type="dcterms:W3CDTF">2013-01-27T09:14:16Z</dcterms:created>
  <dcterms:modified xsi:type="dcterms:W3CDTF">2026-09-10T00:16:13Z</dcterms:modified>
  <cp:category/>
</cp:coreProperties>
</file>