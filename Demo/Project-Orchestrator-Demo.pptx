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D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6583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8DE1D1"/>
                </a:solidFill>
                <a:latin typeface="Aptos"/>
              </a:rPr>
              <a:t>PROJECT ORCHESTRATOR  /  DEVELOPER PREVIEW  /  V1.1.1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80467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Aptos Display"/>
              </a:rPr>
              <a:t>Give every repository
a way of working.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487168"/>
            <a:ext cx="6217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>
                <a:solidFill>
                  <a:srgbClr val="DEE5E3"/>
                </a:solidFill>
                <a:latin typeface="Aptos"/>
              </a:rPr>
              <a:t>Governed agent workflows for every repository.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3712463"/>
            <a:ext cx="3438144" cy="1600200"/>
          </a:xfrm>
          <a:prstGeom prst="roundRect">
            <a:avLst>
              <a:gd name="adj" fmla="val 6000"/>
            </a:avLst>
          </a:prstGeom>
          <a:solidFill>
            <a:srgbClr val="007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3913632"/>
            <a:ext cx="411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4279392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ptos Display"/>
              </a:rPr>
              <a:t>ESTABLISH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4727448"/>
            <a:ext cx="2880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Aptos"/>
              </a:rPr>
              <a:t>Instructions, standards, profiles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3712463"/>
            <a:ext cx="3438144" cy="1600200"/>
          </a:xfrm>
          <a:prstGeom prst="roundRect">
            <a:avLst>
              <a:gd name="adj" fmla="val 6000"/>
            </a:avLst>
          </a:prstGeom>
          <a:solidFill>
            <a:srgbClr val="2F62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3913632"/>
            <a:ext cx="411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4279392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ptos Display"/>
              </a:rPr>
              <a:t>ORCHESTRATE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4727448"/>
            <a:ext cx="2880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Aptos"/>
              </a:rPr>
              <a:t>Route intent to bounded skills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2" y="3712463"/>
            <a:ext cx="3438144" cy="1600200"/>
          </a:xfrm>
          <a:prstGeom prst="roundRect">
            <a:avLst>
              <a:gd name="adj" fmla="val 6000"/>
            </a:avLst>
          </a:prstGeom>
          <a:solidFill>
            <a:srgbClr val="F06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7032" y="3913632"/>
            <a:ext cx="411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2" y="4279392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ptos Display"/>
              </a:rPr>
              <a:t>PROVE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7032" y="4727448"/>
            <a:ext cx="2880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Aptos"/>
              </a:rPr>
              <a:t>Validate and retain evidence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788152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B5BEBC"/>
                </a:solidFill>
                <a:latin typeface="Cascadia Mono"/>
              </a:rPr>
              <a:t>44 verified skills  /  registry-free runtime  /  schema-validated evidence  /  Node.js 22, 24, 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6537960"/>
            <a:ext cx="36576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8A1A0"/>
                </a:solidFill>
                <a:latin typeface="Aptos"/>
              </a:rPr>
              <a:t>PROJECT ORCHESTRATOR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82528" y="6537960"/>
            <a:ext cx="4114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8A1A0"/>
                </a:solidFill>
                <a:latin typeface="Aptos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6583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0766C"/>
                </a:solidFill>
                <a:latin typeface="Aptos"/>
              </a:rPr>
              <a:t>WHY IT EXISTS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7899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1">
                <a:solidFill>
                  <a:srgbClr val="181D22"/>
                </a:solidFill>
                <a:latin typeface="Aptos Display"/>
              </a:rPr>
              <a:t>Agents move fast. Projects need control.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35024"/>
            <a:ext cx="1046988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677074"/>
                </a:solidFill>
                <a:latin typeface="Aptos"/>
              </a:rPr>
              <a:t>The missing layer is not another chatbot. It is a repository-owned operating model.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93392"/>
            <a:ext cx="3703320" cy="3858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26771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06A4A"/>
                </a:solidFill>
                <a:latin typeface="Aptos"/>
              </a:rPr>
              <a:t>WITHOUT A BASELINE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32688" y="2825496"/>
            <a:ext cx="109728" cy="109728"/>
          </a:xfrm>
          <a:prstGeom prst="roundRect">
            <a:avLst>
              <a:gd name="adj" fmla="val 6000"/>
            </a:avLst>
          </a:prstGeom>
          <a:solidFill>
            <a:srgbClr val="F06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7523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181D22"/>
                </a:solidFill>
                <a:latin typeface="Aptos"/>
              </a:rPr>
              <a:t>Scope is guessed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" y="3429000"/>
            <a:ext cx="109728" cy="109728"/>
          </a:xfrm>
          <a:prstGeom prst="roundRect">
            <a:avLst>
              <a:gd name="adj" fmla="val 6000"/>
            </a:avLst>
          </a:prstGeom>
          <a:solidFill>
            <a:srgbClr val="F06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33558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181D22"/>
                </a:solidFill>
                <a:latin typeface="Aptos"/>
              </a:rPr>
              <a:t>Review quality varies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2688" y="4032504"/>
            <a:ext cx="109728" cy="109728"/>
          </a:xfrm>
          <a:prstGeom prst="roundRect">
            <a:avLst>
              <a:gd name="adj" fmla="val 6000"/>
            </a:avLst>
          </a:prstGeom>
          <a:solidFill>
            <a:srgbClr val="F06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395935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181D22"/>
                </a:solidFill>
                <a:latin typeface="Aptos"/>
              </a:rPr>
              <a:t>Approvals are implicit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2688" y="4636008"/>
            <a:ext cx="109728" cy="109728"/>
          </a:xfrm>
          <a:prstGeom prst="roundRect">
            <a:avLst>
              <a:gd name="adj" fmla="val 6000"/>
            </a:avLst>
          </a:prstGeom>
          <a:solidFill>
            <a:srgbClr val="F06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456285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181D22"/>
                </a:solidFill>
                <a:latin typeface="Aptos"/>
              </a:rPr>
              <a:t>Evidence disappears in chat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590288" y="3511296"/>
            <a:ext cx="713232" cy="393192"/>
          </a:xfrm>
          <a:prstGeom prst="rightArrow">
            <a:avLst/>
          </a:prstGeom>
          <a:solidFill>
            <a:srgbClr val="007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504688" y="1993392"/>
            <a:ext cx="6016752" cy="3858768"/>
          </a:xfrm>
          <a:prstGeom prst="roundRect">
            <a:avLst>
              <a:gd name="adj" fmla="val 6000"/>
            </a:avLst>
          </a:prstGeom>
          <a:solidFill>
            <a:srgbClr val="181D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15584" y="2267712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8DE1D1"/>
                </a:solidFill>
                <a:latin typeface="Aptos"/>
              </a:rPr>
              <a:t>WITH PROJECT ORCHESTRATOR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15584" y="2743200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8DE1D1"/>
                </a:solidFill>
                <a:latin typeface="Aptos"/>
              </a:rPr>
              <a:t>BOUNDARIES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42048" y="2724912"/>
            <a:ext cx="382219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Aptos"/>
              </a:rPr>
              <a:t>Each workflow owns a defined action and scope.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15584" y="3401568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8DE1D1"/>
                </a:solidFill>
                <a:latin typeface="Aptos"/>
              </a:rPr>
              <a:t>GATES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42048" y="3383280"/>
            <a:ext cx="382219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Aptos"/>
              </a:rPr>
              <a:t>Clarification, approval, and risk are explicit.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15584" y="4059936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8DE1D1"/>
                </a:solidFill>
                <a:latin typeface="Aptos"/>
              </a:rPr>
              <a:t>COMPOSITION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42048" y="4041648"/>
            <a:ext cx="382219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Aptos"/>
              </a:rPr>
              <a:t>Dependencies run in a verified order.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15584" y="4718304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8DE1D1"/>
                </a:solidFill>
                <a:latin typeface="Aptos"/>
              </a:rPr>
              <a:t>MEMORY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42048" y="4700016"/>
            <a:ext cx="382219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Aptos"/>
              </a:rPr>
              <a:t>Reports preserve evidence beyond the conversation.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537960"/>
            <a:ext cx="36576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677074"/>
                </a:solidFill>
                <a:latin typeface="Aptos"/>
              </a:rPr>
              <a:t>PROJECT ORCHESTRATOR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82528" y="6537960"/>
            <a:ext cx="4114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677074"/>
                </a:solidFill>
                <a:latin typeface="Apto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6583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0766C"/>
                </a:solidFill>
                <a:latin typeface="Aptos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7899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1">
                <a:solidFill>
                  <a:srgbClr val="181D22"/>
                </a:solidFill>
                <a:latin typeface="Aptos Display"/>
              </a:rPr>
              <a:t>A control plane that lives with the code.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35024"/>
            <a:ext cx="1046988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677074"/>
                </a:solidFill>
                <a:latin typeface="Aptos"/>
              </a:rPr>
              <a:t>No separate portal to maintain. The project carries its instructions, workflows, gates, and evidence.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93392"/>
            <a:ext cx="9966960" cy="621792"/>
          </a:xfrm>
          <a:prstGeom prst="roundRect">
            <a:avLst>
              <a:gd name="adj" fmla="val 6000"/>
            </a:avLst>
          </a:prstGeom>
          <a:solidFill>
            <a:srgbClr val="E7A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2157984"/>
            <a:ext cx="1280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81D22"/>
                </a:solidFill>
                <a:latin typeface="Aptos"/>
              </a:rPr>
              <a:t>INTENT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2130552"/>
            <a:ext cx="8138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81D22"/>
                </a:solidFill>
                <a:latin typeface="Aptos"/>
              </a:rPr>
              <a:t>Natural language or slash command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42248" y="2148840"/>
            <a:ext cx="15544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81D22"/>
                </a:solidFill>
                <a:latin typeface="Cascadia Mono"/>
              </a:rPr>
              <a:t>prompt / chat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2724912"/>
            <a:ext cx="9619488" cy="621792"/>
          </a:xfrm>
          <a:prstGeom prst="roundRect">
            <a:avLst>
              <a:gd name="adj" fmla="val 6000"/>
            </a:avLst>
          </a:prstGeom>
          <a:solidFill>
            <a:srgbClr val="007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2889504"/>
            <a:ext cx="1280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tos"/>
              </a:rPr>
              <a:t>ROUTER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78608" y="2862072"/>
            <a:ext cx="77906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Aptos"/>
              </a:rPr>
              <a:t>Match the request to an owning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42248" y="2880360"/>
            <a:ext cx="15544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scadia Mono"/>
              </a:rPr>
              <a:t>skill descriptions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53312" y="3456432"/>
            <a:ext cx="9272016" cy="621792"/>
          </a:xfrm>
          <a:prstGeom prst="roundRect">
            <a:avLst>
              <a:gd name="adj" fmla="val 6000"/>
            </a:avLst>
          </a:prstGeom>
          <a:solidFill>
            <a:srgbClr val="2F62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81912" y="3621024"/>
            <a:ext cx="1280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tos"/>
              </a:rPr>
              <a:t>WORKFLOW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3593592"/>
            <a:ext cx="74432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Aptos"/>
              </a:rPr>
              <a:t>Execute bounded skills and dependencies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42248" y="3611880"/>
            <a:ext cx="15544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scadia Mono"/>
              </a:rPr>
              <a:t>dependency graph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700784" y="4187952"/>
            <a:ext cx="8924544" cy="621792"/>
          </a:xfrm>
          <a:prstGeom prst="roundRect">
            <a:avLst>
              <a:gd name="adj" fmla="val 6000"/>
            </a:avLst>
          </a:prstGeom>
          <a:solidFill>
            <a:srgbClr val="F06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29384" y="4352544"/>
            <a:ext cx="1280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tos"/>
              </a:rPr>
              <a:t>POLICY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73552" y="4325112"/>
            <a:ext cx="7095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Aptos"/>
              </a:rPr>
              <a:t>Pause for clarification, approval, or risk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42248" y="4343400"/>
            <a:ext cx="15544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scadia Mono"/>
              </a:rPr>
              <a:t>instructions + state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48256" y="4919472"/>
            <a:ext cx="8577072" cy="621792"/>
          </a:xfrm>
          <a:prstGeom prst="roundRect">
            <a:avLst>
              <a:gd name="adj" fmla="val 6000"/>
            </a:avLst>
          </a:prstGeom>
          <a:solidFill>
            <a:srgbClr val="181D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76856" y="5084064"/>
            <a:ext cx="1280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tos"/>
              </a:rPr>
              <a:t>EVIDENCE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21024" y="5056632"/>
            <a:ext cx="67482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Aptos"/>
              </a:rPr>
              <a:t>Write validated reports and handoff state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42248" y="5074920"/>
            <a:ext cx="15544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scadia Mono"/>
              </a:rPr>
              <a:t>reports + schemas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537960"/>
            <a:ext cx="36576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677074"/>
                </a:solidFill>
                <a:latin typeface="Aptos"/>
              </a:rPr>
              <a:t>PROJECT ORCHESTRATOR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82528" y="6537960"/>
            <a:ext cx="4114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677074"/>
                </a:solidFill>
                <a:latin typeface="Apto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6583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0766C"/>
                </a:solidFill>
                <a:latin typeface="Aptos"/>
              </a:rPr>
              <a:t>ADOPTION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7899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1">
                <a:solidFill>
                  <a:srgbClr val="181D22"/>
                </a:solidFill>
                <a:latin typeface="Aptos Display"/>
              </a:rPr>
              <a:t>Three entry points. One governed baseline.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35024"/>
            <a:ext cx="1046988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677074"/>
                </a:solidFill>
                <a:latin typeface="Aptos"/>
              </a:rPr>
              <a:t>Create, adopt, or clone into isolated staging; every path verifies before handoff.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48840"/>
            <a:ext cx="3456432" cy="3127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2148840"/>
            <a:ext cx="3456432" cy="82296"/>
          </a:xfrm>
          <a:prstGeom prst="rect">
            <a:avLst/>
          </a:prstGeom>
          <a:solidFill>
            <a:srgbClr val="007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8716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0766C"/>
                </a:solidFill>
                <a:latin typeface="Aptos"/>
              </a:rPr>
              <a:t>NEW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44368"/>
            <a:ext cx="2834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81D22"/>
                </a:solidFill>
                <a:latin typeface="Cascadia Mono"/>
              </a:rPr>
              <a:t>create-project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21024"/>
            <a:ext cx="28163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677074"/>
                </a:solidFill>
                <a:latin typeface="Aptos"/>
              </a:rPr>
              <a:t>Scaffold a governed workspace for a selected stack.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727448"/>
            <a:ext cx="281635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00766C"/>
                </a:solidFill>
                <a:latin typeface="Aptos"/>
              </a:rPr>
              <a:t>TRANSACTIONAL  /  RERUNNABLE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2544" y="2148840"/>
            <a:ext cx="3456432" cy="3127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52544" y="2148840"/>
            <a:ext cx="3456432" cy="82296"/>
          </a:xfrm>
          <a:prstGeom prst="rect">
            <a:avLst/>
          </a:prstGeom>
          <a:solidFill>
            <a:srgbClr val="2F62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08576" y="248716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2F62D0"/>
                </a:solidFill>
                <a:latin typeface="Aptos"/>
              </a:rPr>
              <a:t>EXISTING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8576" y="2944368"/>
            <a:ext cx="2834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81D22"/>
                </a:solidFill>
                <a:latin typeface="Cascadia Mono"/>
              </a:rPr>
              <a:t>adopt --dry-run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08576" y="3621024"/>
            <a:ext cx="28163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677074"/>
                </a:solidFill>
                <a:latin typeface="Aptos"/>
              </a:rPr>
              <a:t>Detect what exists and preview only what is missing.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08576" y="4727448"/>
            <a:ext cx="281635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2F62D0"/>
                </a:solidFill>
                <a:latin typeface="Aptos"/>
              </a:rPr>
              <a:t>TRANSACTIONAL  /  RERUNNABLE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2148840"/>
            <a:ext cx="3456432" cy="3127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6720" y="2148840"/>
            <a:ext cx="3456432" cy="82296"/>
          </a:xfrm>
          <a:prstGeom prst="rect">
            <a:avLst/>
          </a:prstGeom>
          <a:solidFill>
            <a:srgbClr val="F06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248716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F06A4A"/>
                </a:solidFill>
                <a:latin typeface="Aptos"/>
              </a:rPr>
              <a:t>REMOTE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2944368"/>
            <a:ext cx="2834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81D22"/>
                </a:solidFill>
                <a:latin typeface="Cascadia Mono"/>
              </a:rPr>
              <a:t>clone-setup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2752" y="3621024"/>
            <a:ext cx="28163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677074"/>
                </a:solidFill>
                <a:latin typeface="Aptos"/>
              </a:rPr>
              <a:t>Stage, provision, verify, then publish to the destination.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2752" y="4727448"/>
            <a:ext cx="281635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F06A4A"/>
                </a:solidFill>
                <a:latin typeface="Aptos"/>
              </a:rPr>
              <a:t>TRANSACTIONAL  /  RERUNNABLE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532120"/>
            <a:ext cx="10863072" cy="621792"/>
          </a:xfrm>
          <a:prstGeom prst="roundRect">
            <a:avLst>
              <a:gd name="adj" fmla="val 6000"/>
            </a:avLst>
          </a:prstGeom>
          <a:solidFill>
            <a:srgbClr val="181D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5705856"/>
            <a:ext cx="10332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8DE1D1"/>
                </a:solidFill>
                <a:latin typeface="Cascadia Mono"/>
              </a:rPr>
              <a:t>VERIFY SOURCE  -&gt;  RESOLVE PROFILE  -&gt;  APPLY TRANSACTION  -&gt;  VALIDATE INSTALLATION  -&gt;  HAND OFF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537960"/>
            <a:ext cx="36576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677074"/>
                </a:solidFill>
                <a:latin typeface="Aptos"/>
              </a:rPr>
              <a:t>PROJECT ORCHESTRATOR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82528" y="6537960"/>
            <a:ext cx="4114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677074"/>
                </a:solidFill>
                <a:latin typeface="Apto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D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6583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8DE1D1"/>
                </a:solidFill>
                <a:latin typeface="Aptos"/>
              </a:rPr>
              <a:t>ROUTING AND COMPOSITION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7899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Aptos Display"/>
              </a:rPr>
              <a:t>Ask for the outcome. The graph does the rest.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35024"/>
            <a:ext cx="1046988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DEE5E3"/>
                </a:solidFill>
                <a:latin typeface="Aptos"/>
              </a:rPr>
              <a:t>Descriptions route intent; declared dependencies produce prerequisites before downstream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984248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E7AD32"/>
                </a:solidFill>
                <a:latin typeface="Aptos"/>
              </a:rPr>
              <a:t>YOUR REQUEST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331720"/>
            <a:ext cx="3017520" cy="1225296"/>
          </a:xfrm>
          <a:prstGeom prst="roundRect">
            <a:avLst>
              <a:gd name="adj" fmla="val 6000"/>
            </a:avLst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587752"/>
            <a:ext cx="251460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181D22"/>
                </a:solidFill>
                <a:latin typeface="Aptos"/>
              </a:rPr>
              <a:t>“Audit this repo and give me a remediation plan.”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858768" y="2779776"/>
            <a:ext cx="566928" cy="329184"/>
          </a:xfrm>
          <a:prstGeom prst="rightArrow">
            <a:avLst/>
          </a:prstGeom>
          <a:solidFill>
            <a:srgbClr val="8DE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617720" y="2258568"/>
            <a:ext cx="1508760" cy="1389888"/>
          </a:xfrm>
          <a:prstGeom prst="roundRect">
            <a:avLst>
              <a:gd name="adj" fmla="val 6000"/>
            </a:avLst>
          </a:prstGeom>
          <a:solidFill>
            <a:srgbClr val="E7A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27448" y="2496312"/>
            <a:ext cx="12893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Cascadia Mono"/>
              </a:rPr>
              <a:t>CLARIFY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2944368"/>
            <a:ext cx="12893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Aptos"/>
              </a:rPr>
              <a:t>scope + plan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163056" y="2770632"/>
            <a:ext cx="256032" cy="256032"/>
          </a:xfrm>
          <a:prstGeom prst="rightArrow">
            <a:avLst/>
          </a:prstGeom>
          <a:solidFill>
            <a:srgbClr val="DEE5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91656" y="2258568"/>
            <a:ext cx="1508760" cy="1389888"/>
          </a:xfrm>
          <a:prstGeom prst="roundRect">
            <a:avLst>
              <a:gd name="adj" fmla="val 6000"/>
            </a:avLst>
          </a:prstGeom>
          <a:solidFill>
            <a:srgbClr val="007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1384" y="2496312"/>
            <a:ext cx="12893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Cascadia Mono"/>
              </a:rPr>
              <a:t>AUDIT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01384" y="2944368"/>
            <a:ext cx="12893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Aptos"/>
              </a:rPr>
              <a:t>findings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936992" y="2770632"/>
            <a:ext cx="256032" cy="256032"/>
          </a:xfrm>
          <a:prstGeom prst="rightArrow">
            <a:avLst/>
          </a:prstGeom>
          <a:solidFill>
            <a:srgbClr val="DEE5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65592" y="2258568"/>
            <a:ext cx="1508760" cy="1389888"/>
          </a:xfrm>
          <a:prstGeom prst="roundRect">
            <a:avLst>
              <a:gd name="adj" fmla="val 6000"/>
            </a:avLst>
          </a:prstGeom>
          <a:solidFill>
            <a:srgbClr val="2F62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2496312"/>
            <a:ext cx="12893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Cascadia Mono"/>
              </a:rPr>
              <a:t>REVIEW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2944368"/>
            <a:ext cx="12893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Aptos"/>
              </a:rPr>
              <a:t>validated issues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710928" y="2770632"/>
            <a:ext cx="256032" cy="256032"/>
          </a:xfrm>
          <a:prstGeom prst="rightArrow">
            <a:avLst/>
          </a:prstGeom>
          <a:solidFill>
            <a:srgbClr val="DEE5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939528" y="2258568"/>
            <a:ext cx="1508760" cy="1389888"/>
          </a:xfrm>
          <a:prstGeom prst="roundRect">
            <a:avLst>
              <a:gd name="adj" fmla="val 6000"/>
            </a:avLst>
          </a:prstGeom>
          <a:solidFill>
            <a:srgbClr val="F06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9256" y="2496312"/>
            <a:ext cx="12893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Cascadia Mono"/>
              </a:rPr>
              <a:t>PLAN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49256" y="2944368"/>
            <a:ext cx="12893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Aptos"/>
              </a:rPr>
              <a:t>sequenced work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4297680"/>
            <a:ext cx="10863072" cy="1298448"/>
          </a:xfrm>
          <a:prstGeom prst="roundRect">
            <a:avLst>
              <a:gd name="adj" fmla="val 6000"/>
            </a:avLst>
          </a:prstGeom>
          <a:solidFill>
            <a:srgbClr val="252C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553712"/>
            <a:ext cx="2651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8DE1D1"/>
                </a:solidFill>
                <a:latin typeface="Aptos"/>
              </a:rPr>
              <a:t>ACYCLIC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919472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ptos"/>
              </a:rPr>
              <a:t>No circular dependency chains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17136" y="4553712"/>
            <a:ext cx="2651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8DE1D1"/>
                </a:solidFill>
                <a:latin typeface="Aptos"/>
              </a:rPr>
              <a:t>DEPENDENCY-CLOSED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17136" y="4919472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ptos"/>
              </a:rPr>
              <a:t>Profiles include every prerequisite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19872" y="4553712"/>
            <a:ext cx="2651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8DE1D1"/>
                </a:solidFill>
                <a:latin typeface="Aptos"/>
              </a:rPr>
              <a:t>FAIL-CLOSED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19872" y="4919472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ptos"/>
              </a:rPr>
              <a:t>Blocked work cannot report success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6537960"/>
            <a:ext cx="36576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8A1A0"/>
                </a:solidFill>
                <a:latin typeface="Aptos"/>
              </a:rPr>
              <a:t>PROJECT ORCHESTRATOR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82528" y="6537960"/>
            <a:ext cx="4114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8A1A0"/>
                </a:solidFill>
                <a:latin typeface="Apto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6583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0766C"/>
                </a:solidFill>
                <a:latin typeface="Aptos"/>
              </a:rPr>
              <a:t>AGENT BUILDER  /  LOCAL CREATION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7899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1">
                <a:solidFill>
                  <a:srgbClr val="181D22"/>
                </a:solidFill>
                <a:latin typeface="Aptos Display"/>
              </a:rPr>
              <a:t>Two ways to build. One governed install.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35024"/>
            <a:ext cx="1046988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677074"/>
                </a:solidFill>
                <a:latin typeface="Aptos"/>
              </a:rPr>
              <a:t>Guided requirements or bounded research produce the same reviewable, least-privilege agent.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57400"/>
            <a:ext cx="5330952" cy="2148840"/>
          </a:xfrm>
          <a:prstGeom prst="roundRect">
            <a:avLst>
              <a:gd name="adj" fmla="val 6000"/>
            </a:avLst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2057400"/>
            <a:ext cx="5330952" cy="82296"/>
          </a:xfrm>
          <a:prstGeom prst="rect">
            <a:avLst/>
          </a:prstGeom>
          <a:solidFill>
            <a:srgbClr val="007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359152"/>
            <a:ext cx="4480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0766C"/>
                </a:solidFill>
                <a:latin typeface="Aptos"/>
              </a:rPr>
              <a:t>GUIDED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761488"/>
            <a:ext cx="44805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181D22"/>
                </a:solidFill>
                <a:latin typeface="Aptos Display"/>
              </a:rPr>
              <a:t>Supplied requirements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255264"/>
            <a:ext cx="461772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677074"/>
                </a:solidFill>
                <a:latin typeface="Aptos"/>
              </a:rPr>
              <a:t>Define the role, scope, tools, and approval policy from known project needs.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2057400"/>
            <a:ext cx="5330952" cy="2148840"/>
          </a:xfrm>
          <a:prstGeom prst="roundRect">
            <a:avLst>
              <a:gd name="adj" fmla="val 6000"/>
            </a:avLst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9632" y="2057400"/>
            <a:ext cx="5330952" cy="82296"/>
          </a:xfrm>
          <a:prstGeom prst="rect">
            <a:avLst/>
          </a:prstGeom>
          <a:solidFill>
            <a:srgbClr val="2F62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2359152"/>
            <a:ext cx="4480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2F62D0"/>
                </a:solidFill>
                <a:latin typeface="Aptos"/>
              </a:rPr>
              <a:t>AUTONOMOUS-RESEARCH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2" y="2761488"/>
            <a:ext cx="44805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181D22"/>
                </a:solidFill>
                <a:latin typeface="Aptos Display"/>
              </a:rPr>
              <a:t>Bounded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3255264"/>
            <a:ext cx="461772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677074"/>
                </a:solidFill>
                <a:latin typeface="Aptos"/>
              </a:rPr>
              <a:t>Gather current facts first, then propose a blueprint without expanding permissions.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498848"/>
            <a:ext cx="2578608" cy="987552"/>
          </a:xfrm>
          <a:prstGeom prst="roundRect">
            <a:avLst>
              <a:gd name="adj" fmla="val 6000"/>
            </a:avLst>
          </a:prstGeom>
          <a:solidFill>
            <a:srgbClr val="E7A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4681728"/>
            <a:ext cx="3474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5296" y="4645152"/>
            <a:ext cx="17007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ptos Display"/>
              </a:rPr>
              <a:t>DEFINE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5029200"/>
            <a:ext cx="21945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scadia Mono"/>
              </a:rPr>
              <a:t>role + scope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19856" y="4498848"/>
            <a:ext cx="2578608" cy="987552"/>
          </a:xfrm>
          <a:prstGeom prst="roundRect">
            <a:avLst>
              <a:gd name="adj" fmla="val 6000"/>
            </a:avLst>
          </a:prstGeom>
          <a:solidFill>
            <a:srgbClr val="007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02736" y="4681728"/>
            <a:ext cx="3474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86784" y="4645152"/>
            <a:ext cx="17007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ptos Display"/>
              </a:rPr>
              <a:t>GROUND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02736" y="5029200"/>
            <a:ext cx="21945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scadia Mono"/>
              </a:rPr>
              <a:t>requirements / evidence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81344" y="4498848"/>
            <a:ext cx="2578608" cy="987552"/>
          </a:xfrm>
          <a:prstGeom prst="roundRect">
            <a:avLst>
              <a:gd name="adj" fmla="val 6000"/>
            </a:avLst>
          </a:prstGeom>
          <a:solidFill>
            <a:srgbClr val="2F62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4224" y="4681728"/>
            <a:ext cx="3474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8272" y="4645152"/>
            <a:ext cx="17007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ptos Display"/>
              </a:rPr>
              <a:t>VALIDATE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4224" y="5029200"/>
            <a:ext cx="21945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scadia Mono"/>
              </a:rPr>
              <a:t>least privilege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42832" y="4498848"/>
            <a:ext cx="2578608" cy="987552"/>
          </a:xfrm>
          <a:prstGeom prst="roundRect">
            <a:avLst>
              <a:gd name="adj" fmla="val 6000"/>
            </a:avLst>
          </a:prstGeom>
          <a:solidFill>
            <a:srgbClr val="F06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25712" y="4681728"/>
            <a:ext cx="3474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0" y="4645152"/>
            <a:ext cx="17007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ptos Display"/>
              </a:rPr>
              <a:t>INSTALL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25712" y="5029200"/>
            <a:ext cx="21945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scadia Mono"/>
              </a:rPr>
              <a:t>transactional apply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687568"/>
            <a:ext cx="10863072" cy="530352"/>
          </a:xfrm>
          <a:prstGeom prst="roundRect">
            <a:avLst>
              <a:gd name="adj" fmla="val 6000"/>
            </a:avLst>
          </a:prstGeom>
          <a:solidFill>
            <a:srgbClr val="181D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6112" y="5833872"/>
            <a:ext cx="10378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8DE1D1"/>
                </a:solidFill>
                <a:latin typeface="Cascadia Mono"/>
              </a:rPr>
              <a:t>BLUEPRINT 2.2  /  PLAN 1.1  /  CLI + RUNTIME + SCHEMAS + TESTS PROPAGATE TO NEW PROJECTS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6537960"/>
            <a:ext cx="36576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677074"/>
                </a:solidFill>
                <a:latin typeface="Aptos"/>
              </a:rPr>
              <a:t>PROJECT ORCHESTRATOR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82528" y="6537960"/>
            <a:ext cx="4114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677074"/>
                </a:solidFill>
                <a:latin typeface="Apto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D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6583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8DE1D1"/>
                </a:solidFill>
                <a:latin typeface="Aptos"/>
              </a:rPr>
              <a:t>PUBLICATION INTENT  /  GOVERNED HANDOFF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7899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Aptos Display"/>
              </a:rPr>
              <a:t>Plan the destination. Never silently publish.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35024"/>
            <a:ext cx="1046988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DEE5E3"/>
                </a:solidFill>
                <a:latin typeface="Aptos"/>
              </a:rPr>
              <a:t>Publication intent stays in the reviewed plan; platform workflows own external mutation after approval.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48840"/>
            <a:ext cx="3246120" cy="2907792"/>
          </a:xfrm>
          <a:prstGeom prst="roundRect">
            <a:avLst>
              <a:gd name="adj" fmla="val 6000"/>
            </a:avLst>
          </a:prstGeom>
          <a:solidFill>
            <a:srgbClr val="252C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2148840"/>
            <a:ext cx="3246120" cy="82296"/>
          </a:xfrm>
          <a:prstGeom prst="rect">
            <a:avLst/>
          </a:prstGeom>
          <a:solidFill>
            <a:srgbClr val="007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2487168"/>
            <a:ext cx="2697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00766C"/>
                </a:solidFill>
                <a:latin typeface="Aptos"/>
              </a:rPr>
              <a:t>MICROSOFT FOUNDRY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" y="2907792"/>
            <a:ext cx="2697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ptos Display"/>
              </a:rPr>
              <a:t>Managed endpoint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" y="3493008"/>
            <a:ext cx="26974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DEE5E3"/>
                </a:solidFill>
                <a:latin typeface="Aptos"/>
              </a:rPr>
              <a:t>The endpoint is managed with the Foundry agent through its owning workflow.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" y="4626864"/>
            <a:ext cx="26974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00766C"/>
                </a:solidFill>
                <a:latin typeface="Aptos"/>
              </a:rPr>
              <a:t>HAND OFF AFTER APPROVAL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33087" y="2148840"/>
            <a:ext cx="3246120" cy="2907792"/>
          </a:xfrm>
          <a:prstGeom prst="roundRect">
            <a:avLst>
              <a:gd name="adj" fmla="val 6000"/>
            </a:avLst>
          </a:prstGeom>
          <a:solidFill>
            <a:srgbClr val="252C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33087" y="2148840"/>
            <a:ext cx="3246120" cy="82296"/>
          </a:xfrm>
          <a:prstGeom prst="rect">
            <a:avLst/>
          </a:prstGeom>
          <a:solidFill>
            <a:srgbClr val="E7A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79975" y="2487168"/>
            <a:ext cx="2697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E7AD32"/>
                </a:solidFill>
                <a:latin typeface="Aptos"/>
              </a:rPr>
              <a:t>MICROSOFT 365 + TEAMS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79975" y="2907792"/>
            <a:ext cx="2697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ptos Display"/>
              </a:rPr>
              <a:t>Direct distribution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9975" y="3493008"/>
            <a:ext cx="26974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DEE5E3"/>
                </a:solidFill>
                <a:latin typeface="Aptos"/>
              </a:rPr>
              <a:t>Activity Protocol and Bot Service prerequisites remain separate platform work.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9975" y="4626864"/>
            <a:ext cx="26974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E7AD32"/>
                </a:solidFill>
                <a:latin typeface="Aptos"/>
              </a:rPr>
              <a:t>HAND OFF AFTER APPROVAL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07808" y="2148840"/>
            <a:ext cx="3246120" cy="2907792"/>
          </a:xfrm>
          <a:prstGeom prst="roundRect">
            <a:avLst>
              <a:gd name="adj" fmla="val 6000"/>
            </a:avLst>
          </a:prstGeom>
          <a:solidFill>
            <a:srgbClr val="252C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7808" y="2148840"/>
            <a:ext cx="3246120" cy="82296"/>
          </a:xfrm>
          <a:prstGeom prst="rect">
            <a:avLst/>
          </a:prstGeom>
          <a:solidFill>
            <a:srgbClr val="F06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54696" y="2487168"/>
            <a:ext cx="2697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06A4A"/>
                </a:solidFill>
                <a:latin typeface="Aptos"/>
              </a:rPr>
              <a:t>CHATGPT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54696" y="2907792"/>
            <a:ext cx="2697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ptos Display"/>
              </a:rPr>
              <a:t>Indirect Action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54696" y="3493008"/>
            <a:ext cx="26974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DEE5E3"/>
                </a:solidFill>
                <a:latin typeface="Aptos"/>
              </a:rPr>
              <a:t>A separately governed Custom GPT calls an HTTPS/OpenAPI Action.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54696" y="4626864"/>
            <a:ext cx="26974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F06A4A"/>
                </a:solidFill>
                <a:latin typeface="Aptos"/>
              </a:rPr>
              <a:t>HAND OFF AFTER APPROVAL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321808"/>
            <a:ext cx="10863072" cy="731520"/>
          </a:xfrm>
          <a:prstGeom prst="roundRect">
            <a:avLst>
              <a:gd name="adj" fmla="val 6000"/>
            </a:avLst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504688"/>
            <a:ext cx="103327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81D22"/>
                </a:solidFill>
                <a:latin typeface="Cascadia Mono"/>
              </a:rPr>
              <a:t>AGENT BUILDER RECORDS INTENT + READINESS  /  CREATES NO EXTERNAL RESOURCE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537960"/>
            <a:ext cx="36576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8A1A0"/>
                </a:solidFill>
                <a:latin typeface="Aptos"/>
              </a:rPr>
              <a:t>PROJECT ORCHESTRATOR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82528" y="6537960"/>
            <a:ext cx="4114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8A1A0"/>
                </a:solidFill>
                <a:latin typeface="Apto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6583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0766C"/>
                </a:solidFill>
                <a:latin typeface="Aptos"/>
              </a:rPr>
              <a:t>AUTONOMY WITH CONSENT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7899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1">
                <a:solidFill>
                  <a:srgbClr val="181D22"/>
                </a:solidFill>
                <a:latin typeface="Aptos Display"/>
              </a:rPr>
              <a:t>Six gates remain mandatory.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35024"/>
            <a:ext cx="1046988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677074"/>
                </a:solidFill>
                <a:latin typeface="Aptos"/>
              </a:rPr>
              <a:t>Neither autonomy mode nor publication intent can bypass consequential-action approval.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66543"/>
            <a:ext cx="3456432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2066543"/>
            <a:ext cx="73152" cy="1188720"/>
          </a:xfrm>
          <a:prstGeom prst="rect">
            <a:avLst/>
          </a:prstGeom>
          <a:solidFill>
            <a:srgbClr val="007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7824" y="2258567"/>
            <a:ext cx="365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00766C"/>
                </a:solidFill>
                <a:latin typeface="Cascadia Mon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16736" y="2221991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81D22"/>
                </a:solidFill>
                <a:latin typeface="Aptos Display"/>
              </a:rPr>
              <a:t>PURCHASES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6736" y="2633471"/>
            <a:ext cx="24871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77074"/>
                </a:solidFill>
                <a:latin typeface="Aptos"/>
              </a:rPr>
              <a:t>Commit funds or place an order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52544" y="2066543"/>
            <a:ext cx="3456432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52544" y="2066543"/>
            <a:ext cx="73152" cy="1188720"/>
          </a:xfrm>
          <a:prstGeom prst="rect">
            <a:avLst/>
          </a:prstGeom>
          <a:solidFill>
            <a:srgbClr val="2F62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258567"/>
            <a:ext cx="365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2F62D0"/>
                </a:solidFill>
                <a:latin typeface="Cascadia Mono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10912" y="2221991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81D22"/>
                </a:solidFill>
                <a:latin typeface="Aptos Display"/>
              </a:rPr>
              <a:t>BOOKINGS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0912" y="2633471"/>
            <a:ext cx="24871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77074"/>
                </a:solidFill>
                <a:latin typeface="Aptos"/>
              </a:rPr>
              <a:t>Reserve travel, time, or capacity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066543"/>
            <a:ext cx="3456432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2066543"/>
            <a:ext cx="73152" cy="1188720"/>
          </a:xfrm>
          <a:prstGeom prst="rect">
            <a:avLst/>
          </a:prstGeom>
          <a:solidFill>
            <a:srgbClr val="F06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66176" y="2258567"/>
            <a:ext cx="365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F06A4A"/>
                </a:solidFill>
                <a:latin typeface="Cascadia Mono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5088" y="2221991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81D22"/>
                </a:solidFill>
                <a:latin typeface="Aptos Display"/>
              </a:rPr>
              <a:t>MESSAGES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05088" y="2633471"/>
            <a:ext cx="24871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77074"/>
                </a:solidFill>
                <a:latin typeface="Aptos"/>
              </a:rPr>
              <a:t>Send external communications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3511296"/>
            <a:ext cx="3456432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3511296"/>
            <a:ext cx="73152" cy="1188720"/>
          </a:xfrm>
          <a:prstGeom prst="rect">
            <a:avLst/>
          </a:prstGeom>
          <a:solidFill>
            <a:srgbClr val="E7A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" y="3703320"/>
            <a:ext cx="365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E7AD32"/>
                </a:solidFill>
                <a:latin typeface="Cascadia Mono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16736" y="3666744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81D22"/>
                </a:solidFill>
                <a:latin typeface="Aptos Display"/>
              </a:rPr>
              <a:t>ACCOUNT SECURITY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16736" y="4078224"/>
            <a:ext cx="24871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77074"/>
                </a:solidFill>
                <a:latin typeface="Aptos"/>
              </a:rPr>
              <a:t>Change identity or access controls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52544" y="3511296"/>
            <a:ext cx="3456432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52544" y="3511296"/>
            <a:ext cx="73152" cy="1188720"/>
          </a:xfrm>
          <a:prstGeom prst="rect">
            <a:avLst/>
          </a:prstGeom>
          <a:solidFill>
            <a:srgbClr val="007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0" y="3703320"/>
            <a:ext cx="365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00766C"/>
                </a:solidFill>
                <a:latin typeface="Cascadia Mono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10912" y="3666744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81D22"/>
                </a:solidFill>
                <a:latin typeface="Aptos Display"/>
              </a:rPr>
              <a:t>SENSITIVE DISCLOSURE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10912" y="4078224"/>
            <a:ext cx="24871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77074"/>
                </a:solidFill>
                <a:latin typeface="Aptos"/>
              </a:rPr>
              <a:t>Expose protected information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6720" y="3511296"/>
            <a:ext cx="3456432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46720" y="3511296"/>
            <a:ext cx="73152" cy="1188720"/>
          </a:xfrm>
          <a:prstGeom prst="rect">
            <a:avLst/>
          </a:prstGeom>
          <a:solidFill>
            <a:srgbClr val="2F62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66176" y="3703320"/>
            <a:ext cx="365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2F62D0"/>
                </a:solidFill>
                <a:latin typeface="Cascadia Mono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05088" y="3666744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81D22"/>
                </a:solidFill>
                <a:latin typeface="Aptos Display"/>
              </a:rPr>
              <a:t>DESTRUCTIVE ACTIONS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05088" y="4078224"/>
            <a:ext cx="24871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77074"/>
                </a:solidFill>
                <a:latin typeface="Aptos"/>
              </a:rPr>
              <a:t>Delete, revoke, or overwrite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5102352"/>
            <a:ext cx="10863072" cy="530352"/>
          </a:xfrm>
          <a:prstGeom prst="roundRect">
            <a:avLst>
              <a:gd name="adj" fmla="val 6000"/>
            </a:avLst>
          </a:prstGeom>
          <a:solidFill>
            <a:srgbClr val="181D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6112" y="5248656"/>
            <a:ext cx="10378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8DE1D1"/>
                </a:solidFill>
                <a:latin typeface="Cascadia Mono"/>
              </a:rPr>
              <a:t>PUBLICATION METADATA STAYS OUT OF RENDERED AGENT INSTRUCTIONS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5806440"/>
            <a:ext cx="108630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677074"/>
                </a:solidFill>
                <a:latin typeface="Aptos"/>
              </a:rPr>
              <a:t>Azure Government readiness fails closed when service, channel, authorization, or data-boundary evidence is unknown.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6537960"/>
            <a:ext cx="36576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677074"/>
                </a:solidFill>
                <a:latin typeface="Aptos"/>
              </a:rPr>
              <a:t>PROJECT ORCHESTRATOR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82528" y="6537960"/>
            <a:ext cx="4114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677074"/>
                </a:solidFill>
                <a:latin typeface="Apto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6583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0766C"/>
                </a:solidFill>
                <a:latin typeface="Aptos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7899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1">
                <a:solidFill>
                  <a:srgbClr val="181D22"/>
                </a:solidFill>
                <a:latin typeface="Aptos Display"/>
              </a:rPr>
              <a:t>From empty folder to working project in just a few prompts.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35024"/>
            <a:ext cx="1046988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677074"/>
                </a:solidFill>
                <a:latin typeface="Aptos"/>
              </a:rPr>
              <a:t>The demo compresses the interaction; real work retains clarification and approval gates.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29968"/>
            <a:ext cx="4892040" cy="3346704"/>
          </a:xfrm>
          <a:prstGeom prst="roundRect">
            <a:avLst>
              <a:gd name="adj" fmla="val 6000"/>
            </a:avLst>
          </a:prstGeom>
          <a:solidFill>
            <a:srgbClr val="181D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304288"/>
            <a:ext cx="4206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8DE1D1"/>
                </a:solidFill>
                <a:latin typeface="Aptos"/>
              </a:rPr>
              <a:t>PROMPT 01  /  ESTABLISH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743200"/>
            <a:ext cx="4251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Cascadia Mono"/>
              </a:rPr>
              <a:t>/demo-create-project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383280"/>
            <a:ext cx="4160520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DEE5E3"/>
                </a:solidFill>
                <a:latin typeface="Aptos"/>
              </a:rPr>
              <a:t>Create a TypeScript project with the durable profile, tests, and Azure scaffold; verify it, then open its workspace.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4818888"/>
            <a:ext cx="4160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E7AD32"/>
                </a:solidFill>
                <a:latin typeface="Aptos"/>
              </a:rPr>
              <a:t>OUTPUT  -&gt;  GOVERNED WORKSPACE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715000" y="3337560"/>
            <a:ext cx="676656" cy="411480"/>
          </a:xfrm>
          <a:prstGeom prst="rightArrow">
            <a:avLst/>
          </a:prstGeom>
          <a:solidFill>
            <a:srgbClr val="007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92824" y="2029968"/>
            <a:ext cx="4928616" cy="3346704"/>
          </a:xfrm>
          <a:prstGeom prst="roundRect">
            <a:avLst>
              <a:gd name="adj" fmla="val 6000"/>
            </a:avLst>
          </a:prstGeom>
          <a:solidFill>
            <a:srgbClr val="F4F1E8"/>
          </a:solidFill>
          <a:ln w="25400">
            <a:solidFill>
              <a:srgbClr val="0076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76288" y="2304288"/>
            <a:ext cx="4206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0766C"/>
                </a:solidFill>
                <a:latin typeface="Aptos"/>
              </a:rPr>
              <a:t>PROMPT 02  / 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76288" y="2743200"/>
            <a:ext cx="4251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181D22"/>
                </a:solidFill>
                <a:latin typeface="Cascadia Mono"/>
              </a:rPr>
              <a:t>/demo-web-app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76288" y="3383280"/>
            <a:ext cx="4160520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677074"/>
                </a:solidFill>
                <a:latin typeface="Aptos"/>
              </a:rPr>
              <a:t>Build and test the app inside that baseline; stop at the Azure deployment approval gate before any cloud mutation.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76288" y="4818888"/>
            <a:ext cx="4160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F06A4A"/>
                </a:solidFill>
                <a:latin typeface="Aptos"/>
              </a:rPr>
              <a:t>OUTPUT  -&gt;  WORKING, EVIDENCED APP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5779008"/>
            <a:ext cx="108630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81D22"/>
                </a:solidFill>
                <a:latin typeface="Aptos"/>
              </a:rPr>
              <a:t>The product starts the project. GitHub Copilot and the team build the application inside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537960"/>
            <a:ext cx="36576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677074"/>
                </a:solidFill>
                <a:latin typeface="Aptos"/>
              </a:rPr>
              <a:t>PROJECT ORCHESTRATOR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82528" y="6537960"/>
            <a:ext cx="4114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677074"/>
                </a:solidFill>
                <a:latin typeface="Apto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D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6583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8DE1D1"/>
                </a:solidFill>
                <a:latin typeface="Aptos"/>
              </a:rPr>
              <a:t>CURRENT EVIDENCE  /  V1.1.1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7899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Aptos Display"/>
              </a:rPr>
              <a:t>What lands. What passed. What remains.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35024"/>
            <a:ext cx="1046988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DEE5E3"/>
                </a:solidFill>
                <a:latin typeface="Aptos"/>
              </a:rPr>
              <a:t>The framework distinguishes validated capability from production-release readiness.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48840"/>
            <a:ext cx="3236976" cy="3429000"/>
          </a:xfrm>
          <a:prstGeom prst="roundRect">
            <a:avLst>
              <a:gd name="adj" fmla="val 6000"/>
            </a:avLst>
          </a:prstGeom>
          <a:solidFill>
            <a:srgbClr val="252C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2148840"/>
            <a:ext cx="3236976" cy="82296"/>
          </a:xfrm>
          <a:prstGeom prst="rect">
            <a:avLst/>
          </a:prstGeom>
          <a:solidFill>
            <a:srgbClr val="007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487168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0766C"/>
                </a:solidFill>
                <a:latin typeface="Aptos"/>
              </a:rPr>
              <a:t>LANDS IN THE REPO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5256" y="3054096"/>
            <a:ext cx="100584" cy="100584"/>
          </a:xfrm>
          <a:prstGeom prst="roundRect">
            <a:avLst>
              <a:gd name="adj" fmla="val 6000"/>
            </a:avLst>
          </a:prstGeom>
          <a:solidFill>
            <a:srgbClr val="007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2999232"/>
            <a:ext cx="239572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ptos"/>
              </a:rPr>
              <a:t>.github/ instructions + skills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5256" y="3648456"/>
            <a:ext cx="100584" cy="100584"/>
          </a:xfrm>
          <a:prstGeom prst="roundRect">
            <a:avLst>
              <a:gd name="adj" fmla="val 6000"/>
            </a:avLst>
          </a:prstGeom>
          <a:solidFill>
            <a:srgbClr val="007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593592"/>
            <a:ext cx="239572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ptos"/>
              </a:rPr>
              <a:t>.vscode/ build + debug setup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5256" y="4242816"/>
            <a:ext cx="100584" cy="100584"/>
          </a:xfrm>
          <a:prstGeom prst="roundRect">
            <a:avLst>
              <a:gd name="adj" fmla="val 6000"/>
            </a:avLst>
          </a:prstGeom>
          <a:solidFill>
            <a:srgbClr val="007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187952"/>
            <a:ext cx="239572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ptos"/>
              </a:rPr>
              <a:t>reports/ authoritative evidence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5256" y="4837176"/>
            <a:ext cx="100584" cy="100584"/>
          </a:xfrm>
          <a:prstGeom prst="roundRect">
            <a:avLst>
              <a:gd name="adj" fmla="val 6000"/>
            </a:avLst>
          </a:prstGeom>
          <a:solidFill>
            <a:srgbClr val="007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4782312"/>
            <a:ext cx="239572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ptos"/>
              </a:rPr>
              <a:t>schemas/ machine-readable contracts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42232" y="2148840"/>
            <a:ext cx="3236976" cy="3429000"/>
          </a:xfrm>
          <a:prstGeom prst="roundRect">
            <a:avLst>
              <a:gd name="adj" fmla="val 6000"/>
            </a:avLst>
          </a:prstGeom>
          <a:solidFill>
            <a:srgbClr val="252C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42232" y="2148840"/>
            <a:ext cx="3236976" cy="82296"/>
          </a:xfrm>
          <a:prstGeom prst="rect">
            <a:avLst/>
          </a:prstGeom>
          <a:solidFill>
            <a:srgbClr val="2F62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79976" y="2487168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2F62D0"/>
                </a:solidFill>
                <a:latin typeface="Aptos"/>
              </a:rPr>
              <a:t>VALIDATED LOCALLY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9120" y="3054096"/>
            <a:ext cx="100584" cy="100584"/>
          </a:xfrm>
          <a:prstGeom prst="roundRect">
            <a:avLst>
              <a:gd name="adj" fmla="val 6000"/>
            </a:avLst>
          </a:prstGeom>
          <a:solidFill>
            <a:srgbClr val="2F62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54296" y="2999232"/>
            <a:ext cx="239572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ptos"/>
              </a:rPr>
              <a:t>44 framework skills verified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9120" y="3648456"/>
            <a:ext cx="100584" cy="100584"/>
          </a:xfrm>
          <a:prstGeom prst="roundRect">
            <a:avLst>
              <a:gd name="adj" fmla="val 6000"/>
            </a:avLst>
          </a:prstGeom>
          <a:solidFill>
            <a:srgbClr val="2F62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54296" y="3593592"/>
            <a:ext cx="239572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ptos"/>
              </a:rPr>
              <a:t>124 tests passed, 0 failed, 1 skipped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89120" y="4242816"/>
            <a:ext cx="100584" cy="100584"/>
          </a:xfrm>
          <a:prstGeom prst="roundRect">
            <a:avLst>
              <a:gd name="adj" fmla="val 6000"/>
            </a:avLst>
          </a:prstGeom>
          <a:solidFill>
            <a:srgbClr val="2F62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54296" y="4187952"/>
            <a:ext cx="239572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ptos"/>
              </a:rPr>
              <a:t>207 files security-scanned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9120" y="4837176"/>
            <a:ext cx="100584" cy="100584"/>
          </a:xfrm>
          <a:prstGeom prst="roundRect">
            <a:avLst>
              <a:gd name="adj" fmla="val 6000"/>
            </a:avLst>
          </a:prstGeom>
          <a:solidFill>
            <a:srgbClr val="2F62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54296" y="4782312"/>
            <a:ext cx="239572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ptos"/>
              </a:rPr>
              <a:t>158 release files checksum-verified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26096" y="2148840"/>
            <a:ext cx="3236976" cy="3429000"/>
          </a:xfrm>
          <a:prstGeom prst="roundRect">
            <a:avLst>
              <a:gd name="adj" fmla="val 6000"/>
            </a:avLst>
          </a:prstGeom>
          <a:solidFill>
            <a:srgbClr val="252C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626096" y="2148840"/>
            <a:ext cx="3236976" cy="82296"/>
          </a:xfrm>
          <a:prstGeom prst="rect">
            <a:avLst/>
          </a:prstGeom>
          <a:solidFill>
            <a:srgbClr val="F06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63840" y="2487168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F06A4A"/>
                </a:solidFill>
                <a:latin typeface="Aptos"/>
              </a:rPr>
              <a:t>RELEASE BLOCKERS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72984" y="3054096"/>
            <a:ext cx="100584" cy="100584"/>
          </a:xfrm>
          <a:prstGeom prst="roundRect">
            <a:avLst>
              <a:gd name="adj" fmla="val 6000"/>
            </a:avLst>
          </a:prstGeom>
          <a:solidFill>
            <a:srgbClr val="F06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60" y="2999232"/>
            <a:ext cx="239572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ptos"/>
              </a:rPr>
              <a:t>P4 release assurance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872984" y="3648456"/>
            <a:ext cx="100584" cy="100584"/>
          </a:xfrm>
          <a:prstGeom prst="roundRect">
            <a:avLst>
              <a:gd name="adj" fmla="val 6000"/>
            </a:avLst>
          </a:prstGeom>
          <a:solidFill>
            <a:srgbClr val="F06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38160" y="3593592"/>
            <a:ext cx="239572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ptos"/>
              </a:rPr>
              <a:t>Trusted release signature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872984" y="4242816"/>
            <a:ext cx="100584" cy="100584"/>
          </a:xfrm>
          <a:prstGeom prst="roundRect">
            <a:avLst>
              <a:gd name="adj" fmla="val 6000"/>
            </a:avLst>
          </a:prstGeom>
          <a:solidFill>
            <a:srgbClr val="F06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38160" y="4187952"/>
            <a:ext cx="239572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ptos"/>
              </a:rPr>
              <a:t>Independent review evidence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72984" y="4837176"/>
            <a:ext cx="100584" cy="100584"/>
          </a:xfrm>
          <a:prstGeom prst="roundRect">
            <a:avLst>
              <a:gd name="adj" fmla="val 6000"/>
            </a:avLst>
          </a:prstGeom>
          <a:solidFill>
            <a:srgbClr val="F06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38160" y="4782312"/>
            <a:ext cx="239572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ptos"/>
              </a:rPr>
              <a:t>Artifact health + revocation evidence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5870448"/>
            <a:ext cx="10863072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8DE1D1"/>
                </a:solidFill>
                <a:latin typeface="Cascadia Mono"/>
              </a:rPr>
              <a:t>Repository-owned  /  transactional adoption  /  explicit approvals  /  evidence before assertion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6537960"/>
            <a:ext cx="36576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8A1A0"/>
                </a:solidFill>
                <a:latin typeface="Aptos"/>
              </a:rPr>
              <a:t>PROJECT ORCHESTRATOR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82528" y="6537960"/>
            <a:ext cx="4114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8A1A0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